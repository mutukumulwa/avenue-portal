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8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1695" cy="6858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Master" Target="slideMasters/slideMaster1.xml"/><Relationship Id="rId1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A5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7818120" y="-548640"/>
            <a:ext cx="3840480" cy="7955280"/>
          </a:xfrm>
          <a:prstGeom prst="rect">
            <a:avLst/>
          </a:prstGeom>
          <a:solidFill>
            <a:srgbClr val="435BA1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8412480" y="0"/>
            <a:ext cx="2926080" cy="6217920"/>
          </a:xfrm>
          <a:prstGeom prst="rect">
            <a:avLst/>
          </a:prstGeom>
          <a:solidFill>
            <a:srgbClr val="F5C6B6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749808" y="56692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b="1">
                <a:solidFill>
                  <a:srgbClr val="F5C6B6"/>
                </a:solidFill>
              </a:rPr>
              <a:t>AiCare | Avenue Healthcare</a:t>
            </a:r>
          </a:p>
        </p:txBody>
      </p:sp>
      <p:sp>
        <p:nvSpPr>
          <p:cNvPr id="6" name="Shape 6"/>
          <p:cNvSpPr/>
          <p:nvPr/>
        </p:nvSpPr>
        <p:spPr>
          <a:xfrm>
            <a:off x="749808" y="1481328"/>
            <a:ext cx="6400800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4200" b="1">
                <a:solidFill>
                  <a:srgbClr val="FFFFFF"/>
                </a:solidFill>
              </a:rPr>
              <a:t>Hospital membership,</a:t>
            </a:r>
          </a:p>
          <a:p>
            <a:pPr algn="l"/>
            <a:r>
              <a:rPr lang="en-US" sz="4200" b="1">
                <a:solidFill>
                  <a:srgbClr val="FFFFFF"/>
                </a:solidFill>
              </a:rPr>
              <a:t>run like a health plan</a:t>
            </a:r>
          </a:p>
        </p:txBody>
      </p:sp>
      <p:sp>
        <p:nvSpPr>
          <p:cNvPr id="7" name="Shape 7"/>
          <p:cNvSpPr/>
          <p:nvPr/>
        </p:nvSpPr>
        <p:spPr>
          <a:xfrm>
            <a:off x="786384" y="3273552"/>
            <a:ext cx="548640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>
                <a:solidFill>
                  <a:srgbClr val="DDE5FF"/>
                </a:solidFill>
              </a:rPr>
              <a:t>How Avenue can operate a provider-sponsored membership program with insurance-grade control, member-grade trust, and hospital-grade care flow.</a:t>
            </a:r>
          </a:p>
        </p:txBody>
      </p:sp>
      <p:sp>
        <p:nvSpPr>
          <p:cNvPr id="8" name="Shape 8"/>
          <p:cNvSpPr/>
          <p:nvPr/>
        </p:nvSpPr>
        <p:spPr>
          <a:xfrm>
            <a:off x="786384" y="598932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00" b="0">
                <a:solidFill>
                  <a:srgbClr val="DDE5FF"/>
                </a:solidFill>
              </a:rPr>
              <a:t>Strategy presentation | under 20 slides</a:t>
            </a:r>
          </a:p>
        </p:txBody>
      </p:sp>
      <p:sp>
        <p:nvSpPr>
          <p:cNvPr id="9" name="Shape 9"/>
          <p:cNvSpPr/>
          <p:nvPr/>
        </p:nvSpPr>
        <p:spPr>
          <a:xfrm>
            <a:off x="8732520" y="100584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300" b="1">
                <a:solidFill>
                  <a:srgbClr val="292A83"/>
                </a:solidFill>
              </a:rPr>
              <a:t>MEMBER</a:t>
            </a:r>
          </a:p>
        </p:txBody>
      </p:sp>
      <p:sp>
        <p:nvSpPr>
          <p:cNvPr id="10" name="Shape 10"/>
          <p:cNvSpPr/>
          <p:nvPr/>
        </p:nvSpPr>
        <p:spPr>
          <a:xfrm>
            <a:off x="8732520" y="166420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300" b="1">
                <a:solidFill>
                  <a:srgbClr val="292A83"/>
                </a:solidFill>
              </a:rPr>
              <a:t>CARE</a:t>
            </a:r>
          </a:p>
        </p:txBody>
      </p:sp>
      <p:sp>
        <p:nvSpPr>
          <p:cNvPr id="11" name="Shape 11"/>
          <p:cNvSpPr/>
          <p:nvPr/>
        </p:nvSpPr>
        <p:spPr>
          <a:xfrm>
            <a:off x="8732520" y="2322576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300" b="1">
                <a:solidFill>
                  <a:srgbClr val="292A83"/>
                </a:solidFill>
              </a:rPr>
              <a:t>FUND</a:t>
            </a:r>
          </a:p>
        </p:txBody>
      </p:sp>
      <p:sp>
        <p:nvSpPr>
          <p:cNvPr id="12" name="Shape 12"/>
          <p:cNvSpPr/>
          <p:nvPr/>
        </p:nvSpPr>
        <p:spPr>
          <a:xfrm>
            <a:off x="8732520" y="2980944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300" b="1">
                <a:solidFill>
                  <a:srgbClr val="292A83"/>
                </a:solidFill>
              </a:rPr>
              <a:t>AUDIT</a:t>
            </a:r>
          </a:p>
        </p:txBody>
      </p:sp>
      <p:cxnSp>
        <p:nvCxnSpPr>
          <p:cNvPr id="13" name="Shape 13"/>
          <p:cNvCxnSpPr/>
          <p:nvPr/>
        </p:nvCxnSpPr>
        <p:spPr>
          <a:xfrm>
            <a:off x="9692640" y="1298448"/>
            <a:ext cx="0" cy="1627632"/>
          </a:xfrm>
          <a:prstGeom prst="line">
            <a:avLst/>
          </a:prstGeom>
          <a:ln w="25400">
            <a:solidFill>
              <a:srgbClr val="292A83"/>
            </a:solidFill>
          </a:ln>
        </p:spPr>
      </p:cxnSp>
      <p:sp>
        <p:nvSpPr>
          <p:cNvPr id="14" name="Shape 14"/>
          <p:cNvSpPr/>
          <p:nvPr/>
        </p:nvSpPr>
        <p:spPr>
          <a:xfrm>
            <a:off x="10881360" y="644652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900" b="1">
                <a:solidFill>
                  <a:srgbClr val="667085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8368" y="45720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200" b="1">
                <a:solidFill>
                  <a:srgbClr val="292A83"/>
                </a:solidFill>
              </a:rPr>
              <a:t>The point is not to imitate an insurer</a:t>
            </a:r>
          </a:p>
        </p:txBody>
      </p:sp>
      <p:sp>
        <p:nvSpPr>
          <p:cNvPr id="3" name="Shape 3"/>
          <p:cNvSpPr/>
          <p:nvPr/>
        </p:nvSpPr>
        <p:spPr>
          <a:xfrm>
            <a:off x="658368" y="98755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b="0">
                <a:solidFill>
                  <a:srgbClr val="667085"/>
                </a:solidFill>
              </a:rPr>
              <a:t>It is to manage a hospital-owned membership pool with controls built into care delivery.</a:t>
            </a:r>
          </a:p>
        </p:txBody>
      </p:sp>
      <p:cxnSp>
        <p:nvCxnSpPr>
          <p:cNvPr id="4" name="Shape 4"/>
          <p:cNvCxnSpPr/>
          <p:nvPr/>
        </p:nvCxnSpPr>
        <p:spPr>
          <a:xfrm>
            <a:off x="658368" y="1389888"/>
            <a:ext cx="10817352" cy="0"/>
          </a:xfrm>
          <a:prstGeom prst="line">
            <a:avLst/>
          </a:prstGeom>
          <a:ln w="12700">
            <a:solidFill>
              <a:srgbClr val="E6E8EF"/>
            </a:solidFill>
          </a:ln>
        </p:spPr>
      </p:cxnSp>
      <p:sp>
        <p:nvSpPr>
          <p:cNvPr id="5" name="Shape 5"/>
          <p:cNvSpPr/>
          <p:nvPr/>
        </p:nvSpPr>
        <p:spPr>
          <a:xfrm>
            <a:off x="777240" y="1828800"/>
            <a:ext cx="4754880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3000" b="1">
                <a:solidFill>
                  <a:srgbClr val="262A5F"/>
                </a:solidFill>
              </a:rPr>
              <a:t>Avenue is both the care provider and the membership pool steward.</a:t>
            </a:r>
          </a:p>
        </p:txBody>
      </p:sp>
      <p:sp>
        <p:nvSpPr>
          <p:cNvPr id="6" name="Shape 6"/>
          <p:cNvSpPr/>
          <p:nvPr/>
        </p:nvSpPr>
        <p:spPr>
          <a:xfrm>
            <a:off x="822960" y="3136392"/>
            <a:ext cx="43891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>
                <a:solidFill>
                  <a:srgbClr val="202124"/>
                </a:solidFill>
              </a:rPr>
              <a:t>That creates a different operating problem: every visit, contribution, benefit, claim, and override must be visible in one system.</a:t>
            </a:r>
          </a:p>
        </p:txBody>
      </p:sp>
      <p:sp>
        <p:nvSpPr>
          <p:cNvPr id="7" name="Shape 7"/>
          <p:cNvSpPr/>
          <p:nvPr/>
        </p:nvSpPr>
        <p:spPr>
          <a:xfrm>
            <a:off x="6035040" y="1828800"/>
            <a:ext cx="5257800" cy="566928"/>
          </a:xfrm>
          <a:prstGeom prst="roundRect">
            <a:avLst/>
          </a:prstGeom>
          <a:solidFill>
            <a:srgbClr val="F7F8FB"/>
          </a:solidFill>
          <a:ln w="12700">
            <a:solidFill>
              <a:srgbClr val="E6E8EF"/>
            </a:solidFill>
          </a:ln>
        </p:spPr>
      </p:sp>
      <p:sp>
        <p:nvSpPr>
          <p:cNvPr id="8" name="Shape 8"/>
          <p:cNvSpPr/>
          <p:nvPr/>
        </p:nvSpPr>
        <p:spPr>
          <a:xfrm>
            <a:off x="6263640" y="1984248"/>
            <a:ext cx="4800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b="1">
                <a:solidFill>
                  <a:srgbClr val="667085"/>
                </a:solidFill>
              </a:rPr>
              <a:t>Traditional competitor pattern</a:t>
            </a:r>
          </a:p>
        </p:txBody>
      </p:sp>
      <p:sp>
        <p:nvSpPr>
          <p:cNvPr id="9" name="Shape 9"/>
          <p:cNvSpPr/>
          <p:nvPr/>
        </p:nvSpPr>
        <p:spPr>
          <a:xfrm>
            <a:off x="6263640" y="2578608"/>
            <a:ext cx="4800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>
                <a:solidFill>
                  <a:srgbClr val="202124"/>
                </a:solidFill>
              </a:rPr>
              <a:t>Separate insurer, hospital, broker, TPA, and member tools stitched together after the fact.</a:t>
            </a:r>
          </a:p>
        </p:txBody>
      </p:sp>
      <p:sp>
        <p:nvSpPr>
          <p:cNvPr id="10" name="Shape 10"/>
          <p:cNvSpPr/>
          <p:nvPr/>
        </p:nvSpPr>
        <p:spPr>
          <a:xfrm>
            <a:off x="6035040" y="3822192"/>
            <a:ext cx="5257800" cy="566928"/>
          </a:xfrm>
          <a:prstGeom prst="roundRect">
            <a:avLst/>
          </a:prstGeom>
          <a:solidFill>
            <a:srgbClr val="292A83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6263640" y="3977640"/>
            <a:ext cx="4800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AiCare operating pattern</a:t>
            </a:r>
          </a:p>
        </p:txBody>
      </p:sp>
      <p:sp>
        <p:nvSpPr>
          <p:cNvPr id="12" name="Shape 12"/>
          <p:cNvSpPr/>
          <p:nvPr/>
        </p:nvSpPr>
        <p:spPr>
          <a:xfrm>
            <a:off x="6263640" y="4572000"/>
            <a:ext cx="480060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>
                <a:solidFill>
                  <a:srgbClr val="202124"/>
                </a:solidFill>
              </a:rPr>
              <a:t>One membership platform: enrollment, packages, check-in, pre-auth, claims, finance, fraud, service, and stakeholder portals.</a:t>
            </a:r>
          </a:p>
        </p:txBody>
      </p:sp>
      <p:sp>
        <p:nvSpPr>
          <p:cNvPr id="13" name="Shape 13"/>
          <p:cNvSpPr/>
          <p:nvPr/>
        </p:nvSpPr>
        <p:spPr>
          <a:xfrm>
            <a:off x="10881360" y="644652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900" b="1">
                <a:solidFill>
                  <a:srgbClr val="667085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8368" y="45720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200" b="1">
                <a:solidFill>
                  <a:srgbClr val="292A83"/>
                </a:solidFill>
              </a:rPr>
              <a:t>One closed loop from sale to care to settlement</a:t>
            </a:r>
          </a:p>
        </p:txBody>
      </p:sp>
      <p:sp>
        <p:nvSpPr>
          <p:cNvPr id="3" name="Shape 3"/>
          <p:cNvSpPr/>
          <p:nvPr/>
        </p:nvSpPr>
        <p:spPr>
          <a:xfrm>
            <a:off x="658368" y="98755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b="0">
                <a:solidFill>
                  <a:srgbClr val="667085"/>
                </a:solidFill>
              </a:rPr>
              <a:t>The system manages the membership lifecycle as one auditable flow.</a:t>
            </a:r>
          </a:p>
        </p:txBody>
      </p:sp>
      <p:cxnSp>
        <p:nvCxnSpPr>
          <p:cNvPr id="4" name="Shape 4"/>
          <p:cNvCxnSpPr/>
          <p:nvPr/>
        </p:nvCxnSpPr>
        <p:spPr>
          <a:xfrm>
            <a:off x="658368" y="1389888"/>
            <a:ext cx="10817352" cy="0"/>
          </a:xfrm>
          <a:prstGeom prst="line">
            <a:avLst/>
          </a:prstGeom>
          <a:ln w="12700">
            <a:solidFill>
              <a:srgbClr val="E6E8EF"/>
            </a:solidFill>
          </a:ln>
        </p:spPr>
      </p:cxnSp>
      <p:sp>
        <p:nvSpPr>
          <p:cNvPr id="5" name="Shape 5"/>
          <p:cNvSpPr/>
          <p:nvPr/>
        </p:nvSpPr>
        <p:spPr>
          <a:xfrm>
            <a:off x="594360" y="1828800"/>
            <a:ext cx="2377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F"/>
            </a:solidFill>
          </a:ln>
        </p:spPr>
      </p:sp>
      <p:sp>
        <p:nvSpPr>
          <p:cNvPr id="6" name="Shape 6"/>
          <p:cNvSpPr/>
          <p:nvPr/>
        </p:nvSpPr>
        <p:spPr>
          <a:xfrm>
            <a:off x="758952" y="1993392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1">
                <a:solidFill>
                  <a:srgbClr val="292A83"/>
                </a:solidFill>
              </a:rPr>
              <a:t>Quote</a:t>
            </a:r>
          </a:p>
        </p:txBody>
      </p:sp>
      <p:sp>
        <p:nvSpPr>
          <p:cNvPr id="7" name="Shape 7"/>
          <p:cNvSpPr/>
          <p:nvPr/>
        </p:nvSpPr>
        <p:spPr>
          <a:xfrm>
            <a:off x="758952" y="2304288"/>
            <a:ext cx="197510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00" b="0">
                <a:solidFill>
                  <a:srgbClr val="667085"/>
                </a:solidFill>
              </a:rPr>
              <a:t>Broker/admin builds contribution offer</a:t>
            </a:r>
          </a:p>
        </p:txBody>
      </p:sp>
      <p:cxnSp>
        <p:nvCxnSpPr>
          <p:cNvPr id="8" name="Shape 8"/>
          <p:cNvCxnSpPr/>
          <p:nvPr/>
        </p:nvCxnSpPr>
        <p:spPr>
          <a:xfrm>
            <a:off x="2971800" y="2331720"/>
            <a:ext cx="402336" cy="0"/>
          </a:xfrm>
          <a:prstGeom prst="line">
            <a:avLst/>
          </a:prstGeom>
          <a:ln w="25400">
            <a:solidFill>
              <a:srgbClr val="1BA7A6"/>
            </a:solidFill>
          </a:ln>
        </p:spPr>
      </p:cxnSp>
      <p:sp>
        <p:nvSpPr>
          <p:cNvPr id="9" name="Shape 9"/>
          <p:cNvSpPr/>
          <p:nvPr/>
        </p:nvSpPr>
        <p:spPr>
          <a:xfrm>
            <a:off x="3447288" y="1828800"/>
            <a:ext cx="2377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F"/>
            </a:solidFill>
          </a:ln>
        </p:spPr>
      </p:sp>
      <p:sp>
        <p:nvSpPr>
          <p:cNvPr id="10" name="Shape 10"/>
          <p:cNvSpPr/>
          <p:nvPr/>
        </p:nvSpPr>
        <p:spPr>
          <a:xfrm>
            <a:off x="3611880" y="1993392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1">
                <a:solidFill>
                  <a:srgbClr val="292A83"/>
                </a:solidFill>
              </a:rPr>
              <a:t>Enroll</a:t>
            </a:r>
          </a:p>
        </p:txBody>
      </p:sp>
      <p:sp>
        <p:nvSpPr>
          <p:cNvPr id="11" name="Shape 11"/>
          <p:cNvSpPr/>
          <p:nvPr/>
        </p:nvSpPr>
        <p:spPr>
          <a:xfrm>
            <a:off x="3611880" y="2304288"/>
            <a:ext cx="197510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00" b="0">
                <a:solidFill>
                  <a:srgbClr val="667085"/>
                </a:solidFill>
              </a:rPr>
              <a:t>Groups, individuals, dependents, imports</a:t>
            </a:r>
          </a:p>
        </p:txBody>
      </p:sp>
      <p:cxnSp>
        <p:nvCxnSpPr>
          <p:cNvPr id="12" name="Shape 12"/>
          <p:cNvCxnSpPr/>
          <p:nvPr/>
        </p:nvCxnSpPr>
        <p:spPr>
          <a:xfrm>
            <a:off x="5824728" y="2331720"/>
            <a:ext cx="402336" cy="0"/>
          </a:xfrm>
          <a:prstGeom prst="line">
            <a:avLst/>
          </a:prstGeom>
          <a:ln w="25400">
            <a:solidFill>
              <a:srgbClr val="1BA7A6"/>
            </a:solidFill>
          </a:ln>
        </p:spPr>
      </p:cxnSp>
      <p:sp>
        <p:nvSpPr>
          <p:cNvPr id="13" name="Shape 13"/>
          <p:cNvSpPr/>
          <p:nvPr/>
        </p:nvSpPr>
        <p:spPr>
          <a:xfrm>
            <a:off x="6300216" y="1828800"/>
            <a:ext cx="2377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F"/>
            </a:solidFill>
          </a:ln>
        </p:spPr>
      </p:sp>
      <p:sp>
        <p:nvSpPr>
          <p:cNvPr id="14" name="Shape 14"/>
          <p:cNvSpPr/>
          <p:nvPr/>
        </p:nvSpPr>
        <p:spPr>
          <a:xfrm>
            <a:off x="6464808" y="1993392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1">
                <a:solidFill>
                  <a:srgbClr val="292A83"/>
                </a:solidFill>
              </a:rPr>
              <a:t>Configure</a:t>
            </a:r>
          </a:p>
        </p:txBody>
      </p:sp>
      <p:sp>
        <p:nvSpPr>
          <p:cNvPr id="15" name="Shape 15"/>
          <p:cNvSpPr/>
          <p:nvPr/>
        </p:nvSpPr>
        <p:spPr>
          <a:xfrm>
            <a:off x="6464808" y="2304288"/>
            <a:ext cx="197510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00" b="0">
                <a:solidFill>
                  <a:srgbClr val="667085"/>
                </a:solidFill>
              </a:rPr>
              <a:t>Packages, tiers, benefits, co-contribution</a:t>
            </a:r>
          </a:p>
        </p:txBody>
      </p:sp>
      <p:cxnSp>
        <p:nvCxnSpPr>
          <p:cNvPr id="16" name="Shape 16"/>
          <p:cNvCxnSpPr/>
          <p:nvPr/>
        </p:nvCxnSpPr>
        <p:spPr>
          <a:xfrm>
            <a:off x="8677656" y="2331720"/>
            <a:ext cx="402336" cy="0"/>
          </a:xfrm>
          <a:prstGeom prst="line">
            <a:avLst/>
          </a:prstGeom>
          <a:ln w="25400">
            <a:solidFill>
              <a:srgbClr val="1BA7A6"/>
            </a:solidFill>
          </a:ln>
        </p:spPr>
      </p:cxnSp>
      <p:sp>
        <p:nvSpPr>
          <p:cNvPr id="17" name="Shape 17"/>
          <p:cNvSpPr/>
          <p:nvPr/>
        </p:nvSpPr>
        <p:spPr>
          <a:xfrm>
            <a:off x="9153144" y="1828800"/>
            <a:ext cx="2377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F"/>
            </a:solidFill>
          </a:ln>
        </p:spPr>
      </p:sp>
      <p:sp>
        <p:nvSpPr>
          <p:cNvPr id="18" name="Shape 18"/>
          <p:cNvSpPr/>
          <p:nvPr/>
        </p:nvSpPr>
        <p:spPr>
          <a:xfrm>
            <a:off x="9317736" y="1993392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1">
                <a:solidFill>
                  <a:srgbClr val="292A83"/>
                </a:solidFill>
              </a:rPr>
              <a:t>Verify</a:t>
            </a:r>
          </a:p>
        </p:txBody>
      </p:sp>
      <p:sp>
        <p:nvSpPr>
          <p:cNvPr id="19" name="Shape 19"/>
          <p:cNvSpPr/>
          <p:nvPr/>
        </p:nvSpPr>
        <p:spPr>
          <a:xfrm>
            <a:off x="9317736" y="2304288"/>
            <a:ext cx="197510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00" b="0">
                <a:solidFill>
                  <a:srgbClr val="667085"/>
                </a:solidFill>
              </a:rPr>
              <a:t>Secure member check-in at facility</a:t>
            </a:r>
          </a:p>
        </p:txBody>
      </p:sp>
      <p:sp>
        <p:nvSpPr>
          <p:cNvPr id="20" name="Shape 20"/>
          <p:cNvSpPr/>
          <p:nvPr/>
        </p:nvSpPr>
        <p:spPr>
          <a:xfrm>
            <a:off x="594360" y="3703320"/>
            <a:ext cx="2377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F"/>
            </a:solidFill>
          </a:ln>
        </p:spPr>
      </p:sp>
      <p:sp>
        <p:nvSpPr>
          <p:cNvPr id="21" name="Shape 21"/>
          <p:cNvSpPr/>
          <p:nvPr/>
        </p:nvSpPr>
        <p:spPr>
          <a:xfrm>
            <a:off x="758952" y="3867912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1">
                <a:solidFill>
                  <a:srgbClr val="292A83"/>
                </a:solidFill>
              </a:rPr>
              <a:t>Authorize</a:t>
            </a:r>
          </a:p>
        </p:txBody>
      </p:sp>
      <p:sp>
        <p:nvSpPr>
          <p:cNvPr id="22" name="Shape 22"/>
          <p:cNvSpPr/>
          <p:nvPr/>
        </p:nvSpPr>
        <p:spPr>
          <a:xfrm>
            <a:off x="758952" y="4178808"/>
            <a:ext cx="197510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00" b="0">
                <a:solidFill>
                  <a:srgbClr val="667085"/>
                </a:solidFill>
              </a:rPr>
              <a:t>Pre-auth and clinical review</a:t>
            </a:r>
          </a:p>
        </p:txBody>
      </p:sp>
      <p:cxnSp>
        <p:nvCxnSpPr>
          <p:cNvPr id="23" name="Shape 23"/>
          <p:cNvCxnSpPr/>
          <p:nvPr/>
        </p:nvCxnSpPr>
        <p:spPr>
          <a:xfrm>
            <a:off x="2971800" y="4206240"/>
            <a:ext cx="402336" cy="0"/>
          </a:xfrm>
          <a:prstGeom prst="line">
            <a:avLst/>
          </a:prstGeom>
          <a:ln w="25400">
            <a:solidFill>
              <a:srgbClr val="1BA7A6"/>
            </a:solidFill>
          </a:ln>
        </p:spPr>
      </p:cxnSp>
      <p:sp>
        <p:nvSpPr>
          <p:cNvPr id="24" name="Shape 24"/>
          <p:cNvSpPr/>
          <p:nvPr/>
        </p:nvSpPr>
        <p:spPr>
          <a:xfrm>
            <a:off x="3447288" y="3703320"/>
            <a:ext cx="2377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F"/>
            </a:solidFill>
          </a:ln>
        </p:spPr>
      </p:sp>
      <p:sp>
        <p:nvSpPr>
          <p:cNvPr id="25" name="Shape 25"/>
          <p:cNvSpPr/>
          <p:nvPr/>
        </p:nvSpPr>
        <p:spPr>
          <a:xfrm>
            <a:off x="3611880" y="3867912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1">
                <a:solidFill>
                  <a:srgbClr val="292A83"/>
                </a:solidFill>
              </a:rPr>
              <a:t>Adjudicate</a:t>
            </a:r>
          </a:p>
        </p:txBody>
      </p:sp>
      <p:sp>
        <p:nvSpPr>
          <p:cNvPr id="26" name="Shape 26"/>
          <p:cNvSpPr/>
          <p:nvPr/>
        </p:nvSpPr>
        <p:spPr>
          <a:xfrm>
            <a:off x="3611880" y="4178808"/>
            <a:ext cx="197510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00" b="0">
                <a:solidFill>
                  <a:srgbClr val="667085"/>
                </a:solidFill>
              </a:rPr>
              <a:t>Claims, tariffs, exceptions, documents</a:t>
            </a:r>
          </a:p>
        </p:txBody>
      </p:sp>
      <p:cxnSp>
        <p:nvCxnSpPr>
          <p:cNvPr id="27" name="Shape 27"/>
          <p:cNvCxnSpPr/>
          <p:nvPr/>
        </p:nvCxnSpPr>
        <p:spPr>
          <a:xfrm>
            <a:off x="5824728" y="4206240"/>
            <a:ext cx="402336" cy="0"/>
          </a:xfrm>
          <a:prstGeom prst="line">
            <a:avLst/>
          </a:prstGeom>
          <a:ln w="25400">
            <a:solidFill>
              <a:srgbClr val="1BA7A6"/>
            </a:solidFill>
          </a:ln>
        </p:spPr>
      </p:cxnSp>
      <p:sp>
        <p:nvSpPr>
          <p:cNvPr id="28" name="Shape 28"/>
          <p:cNvSpPr/>
          <p:nvPr/>
        </p:nvSpPr>
        <p:spPr>
          <a:xfrm>
            <a:off x="6300216" y="3703320"/>
            <a:ext cx="2377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F"/>
            </a:solidFill>
          </a:ln>
        </p:spPr>
      </p:sp>
      <p:sp>
        <p:nvSpPr>
          <p:cNvPr id="29" name="Shape 29"/>
          <p:cNvSpPr/>
          <p:nvPr/>
        </p:nvSpPr>
        <p:spPr>
          <a:xfrm>
            <a:off x="6464808" y="3867912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1">
                <a:solidFill>
                  <a:srgbClr val="292A83"/>
                </a:solidFill>
              </a:rPr>
              <a:t>Settle</a:t>
            </a:r>
          </a:p>
        </p:txBody>
      </p:sp>
      <p:sp>
        <p:nvSpPr>
          <p:cNvPr id="30" name="Shape 30"/>
          <p:cNvSpPr/>
          <p:nvPr/>
        </p:nvSpPr>
        <p:spPr>
          <a:xfrm>
            <a:off x="6464808" y="4178808"/>
            <a:ext cx="197510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00" b="0">
                <a:solidFill>
                  <a:srgbClr val="667085"/>
                </a:solidFill>
              </a:rPr>
              <a:t>Invoices, payments, GL, fund ledger</a:t>
            </a:r>
          </a:p>
        </p:txBody>
      </p:sp>
      <p:cxnSp>
        <p:nvCxnSpPr>
          <p:cNvPr id="31" name="Shape 31"/>
          <p:cNvCxnSpPr/>
          <p:nvPr/>
        </p:nvCxnSpPr>
        <p:spPr>
          <a:xfrm>
            <a:off x="8677656" y="4206240"/>
            <a:ext cx="402336" cy="0"/>
          </a:xfrm>
          <a:prstGeom prst="line">
            <a:avLst/>
          </a:prstGeom>
          <a:ln w="25400">
            <a:solidFill>
              <a:srgbClr val="1BA7A6"/>
            </a:solidFill>
          </a:ln>
        </p:spPr>
      </p:cxnSp>
      <p:sp>
        <p:nvSpPr>
          <p:cNvPr id="32" name="Shape 32"/>
          <p:cNvSpPr/>
          <p:nvPr/>
        </p:nvSpPr>
        <p:spPr>
          <a:xfrm>
            <a:off x="9153144" y="3703320"/>
            <a:ext cx="2377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F"/>
            </a:solidFill>
          </a:ln>
        </p:spPr>
      </p:sp>
      <p:sp>
        <p:nvSpPr>
          <p:cNvPr id="33" name="Shape 33"/>
          <p:cNvSpPr/>
          <p:nvPr/>
        </p:nvSpPr>
        <p:spPr>
          <a:xfrm>
            <a:off x="9317736" y="3867912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1">
                <a:solidFill>
                  <a:srgbClr val="292A83"/>
                </a:solidFill>
              </a:rPr>
              <a:t>Learn</a:t>
            </a:r>
          </a:p>
        </p:txBody>
      </p:sp>
      <p:sp>
        <p:nvSpPr>
          <p:cNvPr id="34" name="Shape 34"/>
          <p:cNvSpPr/>
          <p:nvPr/>
        </p:nvSpPr>
        <p:spPr>
          <a:xfrm>
            <a:off x="9317736" y="4178808"/>
            <a:ext cx="197510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00" b="0">
                <a:solidFill>
                  <a:srgbClr val="667085"/>
                </a:solidFill>
              </a:rPr>
              <a:t>Fraud, reports, utilization, renewals</a:t>
            </a:r>
          </a:p>
        </p:txBody>
      </p:sp>
      <p:sp>
        <p:nvSpPr>
          <p:cNvPr id="35" name="Shape 35"/>
          <p:cNvSpPr/>
          <p:nvPr/>
        </p:nvSpPr>
        <p:spPr>
          <a:xfrm>
            <a:off x="10881360" y="644652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900" b="1">
                <a:solidFill>
                  <a:srgbClr val="667085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8368" y="45720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200" b="1">
                <a:solidFill>
                  <a:srgbClr val="292A83"/>
                </a:solidFill>
              </a:rPr>
              <a:t>The system gives every actor the correct workbench</a:t>
            </a:r>
          </a:p>
        </p:txBody>
      </p:sp>
      <p:sp>
        <p:nvSpPr>
          <p:cNvPr id="3" name="Shape 3"/>
          <p:cNvSpPr/>
          <p:nvPr/>
        </p:nvSpPr>
        <p:spPr>
          <a:xfrm>
            <a:off x="658368" y="98755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b="0">
                <a:solidFill>
                  <a:srgbClr val="667085"/>
                </a:solidFill>
              </a:rPr>
              <a:t>Different users see different operational surfaces, not a single overloaded back office.</a:t>
            </a:r>
          </a:p>
        </p:txBody>
      </p:sp>
      <p:cxnSp>
        <p:nvCxnSpPr>
          <p:cNvPr id="4" name="Shape 4"/>
          <p:cNvCxnSpPr/>
          <p:nvPr/>
        </p:nvCxnSpPr>
        <p:spPr>
          <a:xfrm>
            <a:off x="658368" y="1389888"/>
            <a:ext cx="10817352" cy="0"/>
          </a:xfrm>
          <a:prstGeom prst="line">
            <a:avLst/>
          </a:prstGeom>
          <a:ln w="12700">
            <a:solidFill>
              <a:srgbClr val="E6E8EF"/>
            </a:solidFill>
          </a:ln>
        </p:spPr>
      </p:cxnSp>
      <p:sp>
        <p:nvSpPr>
          <p:cNvPr id="5" name="Shape 5"/>
          <p:cNvSpPr/>
          <p:nvPr/>
        </p:nvSpPr>
        <p:spPr>
          <a:xfrm>
            <a:off x="822960" y="1691640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00" b="1">
                <a:solidFill>
                  <a:srgbClr val="292A83"/>
                </a:solidFill>
              </a:rPr>
              <a:t>Admin</a:t>
            </a:r>
          </a:p>
        </p:txBody>
      </p:sp>
      <p:cxnSp>
        <p:nvCxnSpPr>
          <p:cNvPr id="6" name="Shape 6"/>
          <p:cNvCxnSpPr/>
          <p:nvPr/>
        </p:nvCxnSpPr>
        <p:spPr>
          <a:xfrm>
            <a:off x="2011680" y="1837944"/>
            <a:ext cx="502920" cy="0"/>
          </a:xfrm>
          <a:prstGeom prst="line">
            <a:avLst/>
          </a:prstGeom>
          <a:ln w="25400">
            <a:solidFill>
              <a:srgbClr val="292A83"/>
            </a:solidFill>
          </a:ln>
        </p:spPr>
      </p:cxnSp>
      <p:sp>
        <p:nvSpPr>
          <p:cNvPr id="7" name="Shape 7"/>
          <p:cNvSpPr/>
          <p:nvPr/>
        </p:nvSpPr>
        <p:spPr>
          <a:xfrm>
            <a:off x="2743200" y="1673352"/>
            <a:ext cx="81381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00" b="0">
                <a:solidFill>
                  <a:srgbClr val="202124"/>
                </a:solidFill>
              </a:rPr>
              <a:t>Membership, claims, packages, billing, providers, reports, fraud, settings</a:t>
            </a:r>
          </a:p>
        </p:txBody>
      </p:sp>
      <p:sp>
        <p:nvSpPr>
          <p:cNvPr id="8" name="Shape 8"/>
          <p:cNvSpPr/>
          <p:nvPr/>
        </p:nvSpPr>
        <p:spPr>
          <a:xfrm>
            <a:off x="822960" y="2560320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00" b="1">
                <a:solidFill>
                  <a:srgbClr val="1BA7A6"/>
                </a:solidFill>
              </a:rPr>
              <a:t>HR manager</a:t>
            </a:r>
          </a:p>
        </p:txBody>
      </p:sp>
      <p:cxnSp>
        <p:nvCxnSpPr>
          <p:cNvPr id="9" name="Shape 9"/>
          <p:cNvCxnSpPr/>
          <p:nvPr/>
        </p:nvCxnSpPr>
        <p:spPr>
          <a:xfrm>
            <a:off x="2011680" y="2706624"/>
            <a:ext cx="502920" cy="0"/>
          </a:xfrm>
          <a:prstGeom prst="line">
            <a:avLst/>
          </a:prstGeom>
          <a:ln w="25400">
            <a:solidFill>
              <a:srgbClr val="1BA7A6"/>
            </a:solidFill>
          </a:ln>
        </p:spPr>
      </p:cxnSp>
      <p:sp>
        <p:nvSpPr>
          <p:cNvPr id="10" name="Shape 10"/>
          <p:cNvSpPr/>
          <p:nvPr/>
        </p:nvSpPr>
        <p:spPr>
          <a:xfrm>
            <a:off x="2743200" y="2542032"/>
            <a:ext cx="81381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00" b="0">
                <a:solidFill>
                  <a:srgbClr val="202124"/>
                </a:solidFill>
              </a:rPr>
              <a:t>Roster, endorsement requests, invoices, utilization, service requests</a:t>
            </a:r>
          </a:p>
        </p:txBody>
      </p:sp>
      <p:sp>
        <p:nvSpPr>
          <p:cNvPr id="11" name="Shape 11"/>
          <p:cNvSpPr/>
          <p:nvPr/>
        </p:nvSpPr>
        <p:spPr>
          <a:xfrm>
            <a:off x="822960" y="3429000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00" b="1">
                <a:solidFill>
                  <a:srgbClr val="28A745"/>
                </a:solidFill>
              </a:rPr>
              <a:t>Member</a:t>
            </a:r>
          </a:p>
        </p:txBody>
      </p:sp>
      <p:cxnSp>
        <p:nvCxnSpPr>
          <p:cNvPr id="12" name="Shape 12"/>
          <p:cNvCxnSpPr/>
          <p:nvPr/>
        </p:nvCxnSpPr>
        <p:spPr>
          <a:xfrm>
            <a:off x="2011680" y="3575304"/>
            <a:ext cx="502920" cy="0"/>
          </a:xfrm>
          <a:prstGeom prst="line">
            <a:avLst/>
          </a:prstGeom>
          <a:ln w="25400">
            <a:solidFill>
              <a:srgbClr val="28A745"/>
            </a:solidFill>
          </a:ln>
        </p:spPr>
      </p:cxnSp>
      <p:sp>
        <p:nvSpPr>
          <p:cNvPr id="13" name="Shape 13"/>
          <p:cNvSpPr/>
          <p:nvPr/>
        </p:nvSpPr>
        <p:spPr>
          <a:xfrm>
            <a:off x="2743200" y="3410712"/>
            <a:ext cx="81381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00" b="0">
                <a:solidFill>
                  <a:srgbClr val="202124"/>
                </a:solidFill>
              </a:rPr>
              <a:t>Digital card, benefits, dependents, utilization, pre-auth, facilities, security</a:t>
            </a:r>
          </a:p>
        </p:txBody>
      </p:sp>
      <p:sp>
        <p:nvSpPr>
          <p:cNvPr id="14" name="Shape 14"/>
          <p:cNvSpPr/>
          <p:nvPr/>
        </p:nvSpPr>
        <p:spPr>
          <a:xfrm>
            <a:off x="822960" y="4297680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00" b="1">
                <a:solidFill>
                  <a:srgbClr val="F5B642"/>
                </a:solidFill>
              </a:rPr>
              <a:t>Broker</a:t>
            </a:r>
          </a:p>
        </p:txBody>
      </p:sp>
      <p:cxnSp>
        <p:nvCxnSpPr>
          <p:cNvPr id="15" name="Shape 15"/>
          <p:cNvCxnSpPr/>
          <p:nvPr/>
        </p:nvCxnSpPr>
        <p:spPr>
          <a:xfrm>
            <a:off x="2011680" y="4443984"/>
            <a:ext cx="502920" cy="0"/>
          </a:xfrm>
          <a:prstGeom prst="line">
            <a:avLst/>
          </a:prstGeom>
          <a:ln w="25400">
            <a:solidFill>
              <a:srgbClr val="F5B642"/>
            </a:solidFill>
          </a:ln>
        </p:spPr>
      </p:cxnSp>
      <p:sp>
        <p:nvSpPr>
          <p:cNvPr id="16" name="Shape 16"/>
          <p:cNvSpPr/>
          <p:nvPr/>
        </p:nvSpPr>
        <p:spPr>
          <a:xfrm>
            <a:off x="2743200" y="4279392"/>
            <a:ext cx="81381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00" b="0">
                <a:solidFill>
                  <a:srgbClr val="202124"/>
                </a:solidFill>
              </a:rPr>
              <a:t>Groups, submissions, quotations, commissions, renewals, support</a:t>
            </a:r>
          </a:p>
        </p:txBody>
      </p:sp>
      <p:sp>
        <p:nvSpPr>
          <p:cNvPr id="17" name="Shape 17"/>
          <p:cNvSpPr/>
          <p:nvPr/>
        </p:nvSpPr>
        <p:spPr>
          <a:xfrm>
            <a:off x="822960" y="5166360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00" b="1">
                <a:solidFill>
                  <a:srgbClr val="DC3545"/>
                </a:solidFill>
              </a:rPr>
              <a:t>Fund admin</a:t>
            </a:r>
          </a:p>
        </p:txBody>
      </p:sp>
      <p:cxnSp>
        <p:nvCxnSpPr>
          <p:cNvPr id="18" name="Shape 18"/>
          <p:cNvCxnSpPr/>
          <p:nvPr/>
        </p:nvCxnSpPr>
        <p:spPr>
          <a:xfrm>
            <a:off x="2011680" y="5312664"/>
            <a:ext cx="502920" cy="0"/>
          </a:xfrm>
          <a:prstGeom prst="line">
            <a:avLst/>
          </a:prstGeom>
          <a:ln w="25400">
            <a:solidFill>
              <a:srgbClr val="DC3545"/>
            </a:solidFill>
          </a:ln>
        </p:spPr>
      </p:cxnSp>
      <p:sp>
        <p:nvSpPr>
          <p:cNvPr id="19" name="Shape 19"/>
          <p:cNvSpPr/>
          <p:nvPr/>
        </p:nvSpPr>
        <p:spPr>
          <a:xfrm>
            <a:off x="2743200" y="5148072"/>
            <a:ext cx="81381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00" b="0">
                <a:solidFill>
                  <a:srgbClr val="202124"/>
                </a:solidFill>
              </a:rPr>
              <a:t>Deposits, balances, claim deductions, category holds, statements</a:t>
            </a:r>
          </a:p>
        </p:txBody>
      </p:sp>
      <p:sp>
        <p:nvSpPr>
          <p:cNvPr id="20" name="Shape 20"/>
          <p:cNvSpPr/>
          <p:nvPr/>
        </p:nvSpPr>
        <p:spPr>
          <a:xfrm>
            <a:off x="10881360" y="644652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900" b="1">
                <a:solidFill>
                  <a:srgbClr val="667085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8368" y="45720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200" b="1">
                <a:solidFill>
                  <a:srgbClr val="292A83"/>
                </a:solidFill>
              </a:rPr>
              <a:t>Membership products are configurable, not hard-coded</a:t>
            </a:r>
          </a:p>
        </p:txBody>
      </p:sp>
      <p:sp>
        <p:nvSpPr>
          <p:cNvPr id="3" name="Shape 3"/>
          <p:cNvSpPr/>
          <p:nvPr/>
        </p:nvSpPr>
        <p:spPr>
          <a:xfrm>
            <a:off x="658368" y="98755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b="0">
                <a:solidFill>
                  <a:srgbClr val="667085"/>
                </a:solidFill>
              </a:rPr>
              <a:t>Packages and benefit rules let the hospital shape commercial offers without rewriting operations.</a:t>
            </a:r>
          </a:p>
        </p:txBody>
      </p:sp>
      <p:cxnSp>
        <p:nvCxnSpPr>
          <p:cNvPr id="4" name="Shape 4"/>
          <p:cNvCxnSpPr/>
          <p:nvPr/>
        </p:nvCxnSpPr>
        <p:spPr>
          <a:xfrm>
            <a:off x="658368" y="1389888"/>
            <a:ext cx="10817352" cy="0"/>
          </a:xfrm>
          <a:prstGeom prst="line">
            <a:avLst/>
          </a:prstGeom>
          <a:ln w="12700">
            <a:solidFill>
              <a:srgbClr val="E6E8EF"/>
            </a:solidFill>
          </a:ln>
        </p:spPr>
      </p:cxnSp>
      <p:sp>
        <p:nvSpPr>
          <p:cNvPr id="5" name="Shape 5"/>
          <p:cNvSpPr/>
          <p:nvPr/>
        </p:nvSpPr>
        <p:spPr>
          <a:xfrm>
            <a:off x="731520" y="1783080"/>
            <a:ext cx="420624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800" b="1">
                <a:solidFill>
                  <a:srgbClr val="262A5F"/>
                </a:solidFill>
              </a:rPr>
              <a:t>Configurable building blocks</a:t>
            </a:r>
          </a:p>
        </p:txBody>
      </p:sp>
      <p:sp>
        <p:nvSpPr>
          <p:cNvPr id="6" name="Shape 6"/>
          <p:cNvSpPr/>
          <p:nvPr/>
        </p:nvSpPr>
        <p:spPr>
          <a:xfrm>
            <a:off x="777240" y="2788920"/>
            <a:ext cx="4023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00" b="0">
                <a:solidFill>
                  <a:srgbClr val="202124"/>
                </a:solidFill>
              </a:rPr>
              <a:t>Packages, package versions, benefit categories, sub-limits, waiting periods, group benefit tiers, and contribution rates support both corporate and individual programs.</a:t>
            </a:r>
          </a:p>
        </p:txBody>
      </p:sp>
      <p:sp>
        <p:nvSpPr>
          <p:cNvPr id="7" name="Shape 7"/>
          <p:cNvSpPr/>
          <p:nvPr/>
        </p:nvSpPr>
        <p:spPr>
          <a:xfrm>
            <a:off x="5577840" y="1737360"/>
            <a:ext cx="5349240" cy="3474720"/>
          </a:xfrm>
          <a:prstGeom prst="roundRect">
            <a:avLst/>
          </a:prstGeom>
          <a:solidFill>
            <a:srgbClr val="F7F8FB"/>
          </a:solidFill>
          <a:ln w="12700">
            <a:solidFill>
              <a:srgbClr val="E6E8EF"/>
            </a:solidFill>
          </a:ln>
        </p:spPr>
      </p:sp>
      <p:sp>
        <p:nvSpPr>
          <p:cNvPr id="8" name="Shape 8"/>
          <p:cNvSpPr/>
          <p:nvPr/>
        </p:nvSpPr>
        <p:spPr>
          <a:xfrm>
            <a:off x="5897880" y="2057400"/>
            <a:ext cx="1417320" cy="347472"/>
          </a:xfrm>
          <a:prstGeom prst="roundRect">
            <a:avLst/>
          </a:prstGeom>
          <a:solidFill>
            <a:srgbClr val="292A83"/>
          </a:solid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5897880" y="2084832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OUTPATIENT</a:t>
            </a:r>
          </a:p>
        </p:txBody>
      </p:sp>
      <p:sp>
        <p:nvSpPr>
          <p:cNvPr id="10" name="Shape 10"/>
          <p:cNvSpPr/>
          <p:nvPr/>
        </p:nvSpPr>
        <p:spPr>
          <a:xfrm>
            <a:off x="7543800" y="2057400"/>
            <a:ext cx="1417320" cy="347472"/>
          </a:xfrm>
          <a:prstGeom prst="roundRect">
            <a:avLst/>
          </a:prstGeom>
          <a:solidFill>
            <a:srgbClr val="1BA7A6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7543800" y="2084832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INPATIENT</a:t>
            </a:r>
          </a:p>
        </p:txBody>
      </p:sp>
      <p:sp>
        <p:nvSpPr>
          <p:cNvPr id="12" name="Shape 12"/>
          <p:cNvSpPr/>
          <p:nvPr/>
        </p:nvSpPr>
        <p:spPr>
          <a:xfrm>
            <a:off x="9189720" y="2057400"/>
            <a:ext cx="1097280" cy="347472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9189720" y="2084832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DENTAL</a:t>
            </a:r>
          </a:p>
        </p:txBody>
      </p:sp>
      <p:sp>
        <p:nvSpPr>
          <p:cNvPr id="14" name="Shape 14"/>
          <p:cNvSpPr/>
          <p:nvPr/>
        </p:nvSpPr>
        <p:spPr>
          <a:xfrm>
            <a:off x="5897880" y="2788920"/>
            <a:ext cx="44348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00" b="1">
                <a:solidFill>
                  <a:srgbClr val="202124"/>
                </a:solidFill>
              </a:rPr>
              <a:t>Annual sub-limit   Waiting period   Co-contribution</a:t>
            </a:r>
          </a:p>
        </p:txBody>
      </p:sp>
      <p:cxnSp>
        <p:nvCxnSpPr>
          <p:cNvPr id="15" name="Shape 15"/>
          <p:cNvCxnSpPr/>
          <p:nvPr/>
        </p:nvCxnSpPr>
        <p:spPr>
          <a:xfrm>
            <a:off x="5897880" y="3246120"/>
            <a:ext cx="4526280" cy="0"/>
          </a:xfrm>
          <a:prstGeom prst="line">
            <a:avLst/>
          </a:prstGeom>
          <a:ln w="12700">
            <a:solidFill>
              <a:srgbClr val="E6E8EF"/>
            </a:solidFill>
          </a:ln>
        </p:spPr>
      </p:cxnSp>
      <p:sp>
        <p:nvSpPr>
          <p:cNvPr id="16" name="Shape 16"/>
          <p:cNvSpPr/>
          <p:nvPr/>
        </p:nvSpPr>
        <p:spPr>
          <a:xfrm>
            <a:off x="5897880" y="3493008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00" b="0">
                <a:solidFill>
                  <a:srgbClr val="667085"/>
                </a:solidFill>
              </a:rPr>
              <a:t>KES 250,000       30 days          10%</a:t>
            </a:r>
          </a:p>
        </p:txBody>
      </p:sp>
      <p:cxnSp>
        <p:nvCxnSpPr>
          <p:cNvPr id="17" name="Shape 17"/>
          <p:cNvCxnSpPr/>
          <p:nvPr/>
        </p:nvCxnSpPr>
        <p:spPr>
          <a:xfrm>
            <a:off x="5897880" y="3977640"/>
            <a:ext cx="4526280" cy="0"/>
          </a:xfrm>
          <a:prstGeom prst="line">
            <a:avLst/>
          </a:prstGeom>
          <a:ln w="12700">
            <a:solidFill>
              <a:srgbClr val="E6E8EF"/>
            </a:solidFill>
          </a:ln>
        </p:spPr>
      </p:cxnSp>
      <p:sp>
        <p:nvSpPr>
          <p:cNvPr id="18" name="Shape 18"/>
          <p:cNvSpPr/>
          <p:nvPr/>
        </p:nvSpPr>
        <p:spPr>
          <a:xfrm>
            <a:off x="5897880" y="4224528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00" b="0">
                <a:solidFill>
                  <a:srgbClr val="667085"/>
                </a:solidFill>
              </a:rPr>
              <a:t>KES 1,000,000     90 days          0%</a:t>
            </a:r>
          </a:p>
        </p:txBody>
      </p:sp>
      <p:sp>
        <p:nvSpPr>
          <p:cNvPr id="19" name="Shape 19"/>
          <p:cNvSpPr/>
          <p:nvPr/>
        </p:nvSpPr>
        <p:spPr>
          <a:xfrm>
            <a:off x="10881360" y="644652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900" b="1">
                <a:solidFill>
                  <a:srgbClr val="667085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8368" y="45720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200" b="1">
                <a:solidFill>
                  <a:srgbClr val="292A83"/>
                </a:solidFill>
              </a:rPr>
              <a:t>Enrollment and endorsements become controlled membership changes</a:t>
            </a:r>
          </a:p>
        </p:txBody>
      </p:sp>
      <p:sp>
        <p:nvSpPr>
          <p:cNvPr id="3" name="Shape 3"/>
          <p:cNvSpPr/>
          <p:nvPr/>
        </p:nvSpPr>
        <p:spPr>
          <a:xfrm>
            <a:off x="658368" y="98755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b="0">
                <a:solidFill>
                  <a:srgbClr val="667085"/>
                </a:solidFill>
              </a:rPr>
              <a:t>The platform supports group imports, individual onboarding, dependents, mid-term changes, and audit trails.</a:t>
            </a:r>
          </a:p>
        </p:txBody>
      </p:sp>
      <p:cxnSp>
        <p:nvCxnSpPr>
          <p:cNvPr id="4" name="Shape 4"/>
          <p:cNvCxnSpPr/>
          <p:nvPr/>
        </p:nvCxnSpPr>
        <p:spPr>
          <a:xfrm>
            <a:off x="658368" y="1389888"/>
            <a:ext cx="10817352" cy="0"/>
          </a:xfrm>
          <a:prstGeom prst="line">
            <a:avLst/>
          </a:prstGeom>
          <a:ln w="12700">
            <a:solidFill>
              <a:srgbClr val="E6E8EF"/>
            </a:solidFill>
          </a:ln>
        </p:spPr>
      </p:cxnSp>
      <p:sp>
        <p:nvSpPr>
          <p:cNvPr id="5" name="Shape 5"/>
          <p:cNvSpPr/>
          <p:nvPr/>
        </p:nvSpPr>
        <p:spPr>
          <a:xfrm>
            <a:off x="777240" y="182880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100" b="1">
                <a:solidFill>
                  <a:srgbClr val="262A5F"/>
                </a:solidFill>
              </a:rPr>
              <a:t>What it manages</a:t>
            </a:r>
          </a:p>
        </p:txBody>
      </p:sp>
      <p:sp>
        <p:nvSpPr>
          <p:cNvPr id="6" name="Shape 6"/>
          <p:cNvSpPr/>
          <p:nvPr/>
        </p:nvSpPr>
        <p:spPr>
          <a:xfrm>
            <a:off x="868680" y="2450592"/>
            <a:ext cx="4206240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0">
                <a:solidFill>
                  <a:srgbClr val="202124"/>
                </a:solidFill>
              </a:rPr>
              <a:t>Member profiles</a:t>
            </a:r>
          </a:p>
          <a:p>
            <a:pPr algn="l"/>
            <a:r>
              <a:rPr lang="en-US" sz="1800" b="0">
                <a:solidFill>
                  <a:srgbClr val="202124"/>
                </a:solidFill>
              </a:rPr>
              <a:t>Dependents and relationships</a:t>
            </a:r>
          </a:p>
          <a:p>
            <a:pPr algn="l"/>
            <a:r>
              <a:rPr lang="en-US" sz="1800" b="0">
                <a:solidFill>
                  <a:srgbClr val="202124"/>
                </a:solidFill>
              </a:rPr>
              <a:t>Group rosters and imports</a:t>
            </a:r>
          </a:p>
          <a:p>
            <a:pPr algn="l"/>
            <a:r>
              <a:rPr lang="en-US" sz="1800" b="0">
                <a:solidFill>
                  <a:srgbClr val="202124"/>
                </a:solidFill>
              </a:rPr>
              <a:t>Endorsement requests</a:t>
            </a:r>
          </a:p>
          <a:p>
            <a:pPr algn="l"/>
            <a:r>
              <a:rPr lang="en-US" sz="1800" b="0">
                <a:solidFill>
                  <a:srgbClr val="202124"/>
                </a:solidFill>
              </a:rPr>
              <a:t>Status changes and renewals</a:t>
            </a:r>
          </a:p>
        </p:txBody>
      </p:sp>
      <p:sp>
        <p:nvSpPr>
          <p:cNvPr id="7" name="Shape 7"/>
          <p:cNvSpPr/>
          <p:nvPr/>
        </p:nvSpPr>
        <p:spPr>
          <a:xfrm>
            <a:off x="5623560" y="1783080"/>
            <a:ext cx="52578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F"/>
            </a:solidFill>
          </a:ln>
        </p:spPr>
      </p:sp>
      <p:sp>
        <p:nvSpPr>
          <p:cNvPr id="8" name="Shape 8"/>
          <p:cNvSpPr/>
          <p:nvPr/>
        </p:nvSpPr>
        <p:spPr>
          <a:xfrm>
            <a:off x="5897880" y="202996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00" b="1">
                <a:solidFill>
                  <a:srgbClr val="1BA7A6"/>
                </a:solidFill>
              </a:rPr>
              <a:t>HR request</a:t>
            </a:r>
          </a:p>
        </p:txBody>
      </p:sp>
      <p:sp>
        <p:nvSpPr>
          <p:cNvPr id="9" name="Shape 9"/>
          <p:cNvSpPr/>
          <p:nvPr/>
        </p:nvSpPr>
        <p:spPr>
          <a:xfrm>
            <a:off x="5897880" y="2542032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0">
                <a:solidFill>
                  <a:srgbClr val="202124"/>
                </a:solidFill>
              </a:rPr>
              <a:t>Add dependent, remove member, transfer group, update profile</a:t>
            </a:r>
          </a:p>
        </p:txBody>
      </p:sp>
      <p:cxnSp>
        <p:nvCxnSpPr>
          <p:cNvPr id="10" name="Shape 10"/>
          <p:cNvCxnSpPr/>
          <p:nvPr/>
        </p:nvCxnSpPr>
        <p:spPr>
          <a:xfrm>
            <a:off x="5897880" y="3154680"/>
            <a:ext cx="4572000" cy="0"/>
          </a:xfrm>
          <a:prstGeom prst="line">
            <a:avLst/>
          </a:prstGeom>
          <a:ln w="12700">
            <a:solidFill>
              <a:srgbClr val="E6E8EF"/>
            </a:solidFill>
          </a:ln>
        </p:spPr>
      </p:cxnSp>
      <p:sp>
        <p:nvSpPr>
          <p:cNvPr id="11" name="Shape 11"/>
          <p:cNvSpPr/>
          <p:nvPr/>
        </p:nvSpPr>
        <p:spPr>
          <a:xfrm>
            <a:off x="5897880" y="343814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00" b="1">
                <a:solidFill>
                  <a:srgbClr val="292A83"/>
                </a:solidFill>
              </a:rPr>
              <a:t>Admin review</a:t>
            </a:r>
          </a:p>
        </p:txBody>
      </p:sp>
      <p:sp>
        <p:nvSpPr>
          <p:cNvPr id="12" name="Shape 12"/>
          <p:cNvSpPr/>
          <p:nvPr/>
        </p:nvSpPr>
        <p:spPr>
          <a:xfrm>
            <a:off x="5897880" y="3950208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0">
                <a:solidFill>
                  <a:srgbClr val="202124"/>
                </a:solidFill>
              </a:rPr>
              <a:t>Validate eligibility, effective date, package version, billing impact</a:t>
            </a:r>
          </a:p>
        </p:txBody>
      </p:sp>
      <p:cxnSp>
        <p:nvCxnSpPr>
          <p:cNvPr id="13" name="Shape 13"/>
          <p:cNvCxnSpPr/>
          <p:nvPr/>
        </p:nvCxnSpPr>
        <p:spPr>
          <a:xfrm>
            <a:off x="5897880" y="4526280"/>
            <a:ext cx="4572000" cy="0"/>
          </a:xfrm>
          <a:prstGeom prst="line">
            <a:avLst/>
          </a:prstGeom>
          <a:ln w="12700">
            <a:solidFill>
              <a:srgbClr val="E6E8EF"/>
            </a:solidFill>
          </a:ln>
        </p:spPr>
      </p:cxnSp>
      <p:sp>
        <p:nvSpPr>
          <p:cNvPr id="14" name="Shape 14"/>
          <p:cNvSpPr/>
          <p:nvPr/>
        </p:nvSpPr>
        <p:spPr>
          <a:xfrm>
            <a:off x="5897880" y="477316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00" b="1">
                <a:solidFill>
                  <a:srgbClr val="28A745"/>
                </a:solidFill>
              </a:rPr>
              <a:t>Result</a:t>
            </a:r>
          </a:p>
        </p:txBody>
      </p:sp>
      <p:sp>
        <p:nvSpPr>
          <p:cNvPr id="15" name="Shape 15"/>
          <p:cNvSpPr/>
          <p:nvPr/>
        </p:nvSpPr>
        <p:spPr>
          <a:xfrm>
            <a:off x="7360920" y="4773168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00" b="0">
                <a:solidFill>
                  <a:srgbClr val="202124"/>
                </a:solidFill>
              </a:rPr>
              <a:t>Roster, invoice, and benefit state updated</a:t>
            </a:r>
          </a:p>
        </p:txBody>
      </p:sp>
      <p:sp>
        <p:nvSpPr>
          <p:cNvPr id="16" name="Shape 16"/>
          <p:cNvSpPr/>
          <p:nvPr/>
        </p:nvSpPr>
        <p:spPr>
          <a:xfrm>
            <a:off x="10881360" y="644652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900" b="1">
                <a:solidFill>
                  <a:srgbClr val="667085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8368" y="45720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200" b="1">
                <a:solidFill>
                  <a:srgbClr val="292A83"/>
                </a:solidFill>
              </a:rPr>
              <a:t>Point-of-care verification is a first-class control</a:t>
            </a:r>
          </a:p>
        </p:txBody>
      </p:sp>
      <p:sp>
        <p:nvSpPr>
          <p:cNvPr id="3" name="Shape 3"/>
          <p:cNvSpPr/>
          <p:nvPr/>
        </p:nvSpPr>
        <p:spPr>
          <a:xfrm>
            <a:off x="658368" y="98755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b="0">
                <a:solidFill>
                  <a:srgbClr val="667085"/>
                </a:solidFill>
              </a:rPr>
              <a:t>Secure check-in closes the biggest PSHP gap: non-members consuming benefits with someone else's credentials.</a:t>
            </a:r>
          </a:p>
        </p:txBody>
      </p:sp>
      <p:cxnSp>
        <p:nvCxnSpPr>
          <p:cNvPr id="4" name="Shape 4"/>
          <p:cNvCxnSpPr/>
          <p:nvPr/>
        </p:nvCxnSpPr>
        <p:spPr>
          <a:xfrm>
            <a:off x="658368" y="1389888"/>
            <a:ext cx="10817352" cy="0"/>
          </a:xfrm>
          <a:prstGeom prst="line">
            <a:avLst/>
          </a:prstGeom>
          <a:ln w="12700">
            <a:solidFill>
              <a:srgbClr val="E6E8EF"/>
            </a:solidFill>
          </a:ln>
        </p:spPr>
      </p:cxnSp>
      <p:sp>
        <p:nvSpPr>
          <p:cNvPr id="5" name="Shape 5"/>
          <p:cNvSpPr/>
          <p:nvPr/>
        </p:nvSpPr>
        <p:spPr>
          <a:xfrm>
            <a:off x="731520" y="1737360"/>
            <a:ext cx="42976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800" b="1">
                <a:solidFill>
                  <a:srgbClr val="262A5F"/>
                </a:solidFill>
              </a:rPr>
              <a:t>The check-in is not a plastic card moment. It is an auditable visit opening.</a:t>
            </a:r>
          </a:p>
        </p:txBody>
      </p:sp>
      <p:sp>
        <p:nvSpPr>
          <p:cNvPr id="6" name="Shape 6"/>
          <p:cNvSpPr/>
          <p:nvPr/>
        </p:nvSpPr>
        <p:spPr>
          <a:xfrm>
            <a:off x="777240" y="2999232"/>
            <a:ext cx="425196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00" b="0">
                <a:solidFill>
                  <a:srgbClr val="202124"/>
                </a:solidFill>
              </a:rPr>
              <a:t>Primary path uses WebAuthn/passkey-style device verification plus a reception code match. Fallbacks preserve access without hiding risk.</a:t>
            </a:r>
          </a:p>
        </p:txBody>
      </p:sp>
      <p:sp>
        <p:nvSpPr>
          <p:cNvPr id="7" name="Shape 7"/>
          <p:cNvSpPr/>
          <p:nvPr/>
        </p:nvSpPr>
        <p:spPr>
          <a:xfrm>
            <a:off x="5532120" y="1645920"/>
            <a:ext cx="5303520" cy="3977640"/>
          </a:xfrm>
          <a:prstGeom prst="roundRect">
            <a:avLst/>
          </a:prstGeom>
          <a:solidFill>
            <a:srgbClr val="F7F8FB"/>
          </a:solidFill>
          <a:ln w="12700">
            <a:solidFill>
              <a:srgbClr val="E6E8EF"/>
            </a:solidFill>
          </a:ln>
        </p:spPr>
      </p:sp>
      <p:sp>
        <p:nvSpPr>
          <p:cNvPr id="8" name="Shape 8"/>
          <p:cNvSpPr/>
          <p:nvPr/>
        </p:nvSpPr>
        <p:spPr>
          <a:xfrm>
            <a:off x="5870448" y="1975104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1">
                <a:solidFill>
                  <a:srgbClr val="292A83"/>
                </a:solidFill>
              </a:rPr>
              <a:t>Reception starts secure check-in</a:t>
            </a:r>
          </a:p>
        </p:txBody>
      </p:sp>
      <p:cxnSp>
        <p:nvCxnSpPr>
          <p:cNvPr id="9" name="Shape 9"/>
          <p:cNvCxnSpPr/>
          <p:nvPr/>
        </p:nvCxnSpPr>
        <p:spPr>
          <a:xfrm>
            <a:off x="6172200" y="2514600"/>
            <a:ext cx="0" cy="2468880"/>
          </a:xfrm>
          <a:prstGeom prst="line">
            <a:avLst/>
          </a:prstGeom>
          <a:ln w="25400">
            <a:solidFill>
              <a:srgbClr val="1BA7A6"/>
            </a:solidFill>
          </a:ln>
        </p:spPr>
      </p:cxnSp>
      <p:sp>
        <p:nvSpPr>
          <p:cNvPr id="10" name="Shape 10"/>
          <p:cNvSpPr/>
          <p:nvPr/>
        </p:nvSpPr>
        <p:spPr>
          <a:xfrm>
            <a:off x="6473952" y="246888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00" b="0">
                <a:solidFill>
                  <a:srgbClr val="202124"/>
                </a:solidFill>
              </a:rPr>
              <a:t>1  Device biometric signs challenge</a:t>
            </a:r>
          </a:p>
        </p:txBody>
      </p:sp>
      <p:sp>
        <p:nvSpPr>
          <p:cNvPr id="11" name="Shape 11"/>
          <p:cNvSpPr/>
          <p:nvPr/>
        </p:nvSpPr>
        <p:spPr>
          <a:xfrm>
            <a:off x="6473952" y="315468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00" b="0">
                <a:solidFill>
                  <a:srgbClr val="202124"/>
                </a:solidFill>
              </a:rPr>
              <a:t>2  Member and reception compare code</a:t>
            </a:r>
          </a:p>
        </p:txBody>
      </p:sp>
      <p:sp>
        <p:nvSpPr>
          <p:cNvPr id="12" name="Shape 12"/>
          <p:cNvSpPr/>
          <p:nvPr/>
        </p:nvSpPr>
        <p:spPr>
          <a:xfrm>
            <a:off x="6473952" y="384048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00" b="0">
                <a:solidFill>
                  <a:srgbClr val="202124"/>
                </a:solidFill>
              </a:rPr>
              <a:t>3  Visit opens; event enters audit chain</a:t>
            </a:r>
          </a:p>
        </p:txBody>
      </p:sp>
      <p:sp>
        <p:nvSpPr>
          <p:cNvPr id="13" name="Shape 13"/>
          <p:cNvSpPr/>
          <p:nvPr/>
        </p:nvSpPr>
        <p:spPr>
          <a:xfrm>
            <a:off x="6473952" y="452628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00" b="0">
                <a:solidFill>
                  <a:srgbClr val="202124"/>
                </a:solidFill>
              </a:rPr>
              <a:t>4  Emergency override allowed, then reviewed</a:t>
            </a:r>
          </a:p>
        </p:txBody>
      </p:sp>
      <p:sp>
        <p:nvSpPr>
          <p:cNvPr id="14" name="Shape 14"/>
          <p:cNvSpPr/>
          <p:nvPr/>
        </p:nvSpPr>
        <p:spPr>
          <a:xfrm>
            <a:off x="10881360" y="644652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900" b="1">
                <a:solidFill>
                  <a:srgbClr val="667085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8368" y="45720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200" b="1">
                <a:solidFill>
                  <a:srgbClr val="292A83"/>
                </a:solidFill>
              </a:rPr>
              <a:t>Pre-auth and claims share the same clinical-financial spine</a:t>
            </a:r>
          </a:p>
        </p:txBody>
      </p:sp>
      <p:sp>
        <p:nvSpPr>
          <p:cNvPr id="3" name="Shape 3"/>
          <p:cNvSpPr/>
          <p:nvPr/>
        </p:nvSpPr>
        <p:spPr>
          <a:xfrm>
            <a:off x="658368" y="98755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b="0">
                <a:solidFill>
                  <a:srgbClr val="667085"/>
                </a:solidFill>
              </a:rPr>
              <a:t>The platform can compare requested care, diagnosis, provider tariff, benefit limit, and member contribution at decision time.</a:t>
            </a:r>
          </a:p>
        </p:txBody>
      </p:sp>
      <p:cxnSp>
        <p:nvCxnSpPr>
          <p:cNvPr id="4" name="Shape 4"/>
          <p:cNvCxnSpPr/>
          <p:nvPr/>
        </p:nvCxnSpPr>
        <p:spPr>
          <a:xfrm>
            <a:off x="658368" y="1389888"/>
            <a:ext cx="10817352" cy="0"/>
          </a:xfrm>
          <a:prstGeom prst="line">
            <a:avLst/>
          </a:prstGeom>
          <a:ln w="12700">
            <a:solidFill>
              <a:srgbClr val="E6E8EF"/>
            </a:solidFill>
          </a:ln>
        </p:spPr>
      </p:cxnSp>
      <p:sp>
        <p:nvSpPr>
          <p:cNvPr id="5" name="Shape 5"/>
          <p:cNvSpPr/>
          <p:nvPr/>
        </p:nvSpPr>
        <p:spPr>
          <a:xfrm>
            <a:off x="777240" y="1783080"/>
            <a:ext cx="49834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F"/>
            </a:solidFill>
          </a:ln>
        </p:spPr>
      </p:sp>
      <p:sp>
        <p:nvSpPr>
          <p:cNvPr id="6" name="Shape 6"/>
          <p:cNvSpPr/>
          <p:nvPr/>
        </p:nvSpPr>
        <p:spPr>
          <a:xfrm>
            <a:off x="1051560" y="2029968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1">
                <a:solidFill>
                  <a:srgbClr val="292A83"/>
                </a:solidFill>
              </a:rPr>
              <a:t>Claim adjudication workbench</a:t>
            </a:r>
          </a:p>
        </p:txBody>
      </p:sp>
      <p:sp>
        <p:nvSpPr>
          <p:cNvPr id="7" name="Shape 7"/>
          <p:cNvSpPr/>
          <p:nvPr/>
        </p:nvSpPr>
        <p:spPr>
          <a:xfrm>
            <a:off x="1051560" y="2633472"/>
            <a:ext cx="434340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>
                <a:solidFill>
                  <a:srgbClr val="202124"/>
                </a:solidFill>
              </a:rPr>
              <a:t>Structured service lines by category</a:t>
            </a:r>
          </a:p>
          <a:p>
            <a:pPr algn="l"/>
            <a:r>
              <a:rPr lang="en-US" sz="1700" b="0">
                <a:solidFill>
                  <a:srgbClr val="202124"/>
                </a:solidFill>
              </a:rPr>
              <a:t>ICD-10 and CPT support</a:t>
            </a:r>
          </a:p>
          <a:p>
            <a:pPr algn="l"/>
            <a:r>
              <a:rPr lang="en-US" sz="1700" b="0">
                <a:solidFill>
                  <a:srgbClr val="202124"/>
                </a:solidFill>
              </a:rPr>
              <a:t>Tariff variance detection</a:t>
            </a:r>
          </a:p>
          <a:p>
            <a:pPr algn="l"/>
            <a:r>
              <a:rPr lang="en-US" sz="1700" b="0">
                <a:solidFill>
                  <a:srgbClr val="202124"/>
                </a:solidFill>
              </a:rPr>
              <a:t>Documents and exception workflow</a:t>
            </a:r>
          </a:p>
          <a:p>
            <a:pPr algn="l"/>
            <a:r>
              <a:rPr lang="en-US" sz="1700" b="0">
                <a:solidFill>
                  <a:srgbClr val="202124"/>
                </a:solidFill>
              </a:rPr>
              <a:t>Co-contribution collection</a:t>
            </a:r>
          </a:p>
        </p:txBody>
      </p:sp>
      <p:sp>
        <p:nvSpPr>
          <p:cNvPr id="8" name="Shape 8"/>
          <p:cNvSpPr/>
          <p:nvPr/>
        </p:nvSpPr>
        <p:spPr>
          <a:xfrm>
            <a:off x="6446520" y="1783080"/>
            <a:ext cx="4526280" cy="3566160"/>
          </a:xfrm>
          <a:prstGeom prst="roundRect">
            <a:avLst/>
          </a:prstGeom>
          <a:solidFill>
            <a:srgbClr val="F7F8FB"/>
          </a:solidFill>
          <a:ln w="12700">
            <a:solidFill>
              <a:srgbClr val="E6E8EF"/>
            </a:solidFill>
          </a:ln>
        </p:spPr>
      </p:sp>
      <p:sp>
        <p:nvSpPr>
          <p:cNvPr id="9" name="Shape 9"/>
          <p:cNvSpPr/>
          <p:nvPr/>
        </p:nvSpPr>
        <p:spPr>
          <a:xfrm>
            <a:off x="6720840" y="202996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1">
                <a:solidFill>
                  <a:srgbClr val="1BA7A6"/>
                </a:solidFill>
              </a:rPr>
              <a:t>Why this matters</a:t>
            </a:r>
          </a:p>
        </p:txBody>
      </p:sp>
      <p:sp>
        <p:nvSpPr>
          <p:cNvPr id="10" name="Shape 10"/>
          <p:cNvSpPr/>
          <p:nvPr/>
        </p:nvSpPr>
        <p:spPr>
          <a:xfrm>
            <a:off x="6720840" y="2633472"/>
            <a:ext cx="374904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>
                <a:solidFill>
                  <a:srgbClr val="202124"/>
                </a:solidFill>
              </a:rPr>
              <a:t>A competitor can adjudicate a claim. This system can connect that claim to the member's package, facility check-in, provider contract, HR roster, fund balance, GL posting, and fraud history.</a:t>
            </a:r>
          </a:p>
        </p:txBody>
      </p:sp>
      <p:sp>
        <p:nvSpPr>
          <p:cNvPr id="11" name="Shape 11"/>
          <p:cNvSpPr/>
          <p:nvPr/>
        </p:nvSpPr>
        <p:spPr>
          <a:xfrm>
            <a:off x="10881360" y="644652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900" b="1">
                <a:solidFill>
                  <a:srgbClr val="667085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8368" y="45720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200" b="1">
                <a:solidFill>
                  <a:srgbClr val="292A83"/>
                </a:solidFill>
              </a:rPr>
              <a:t>Fraud control is embedded before, during, and after care</a:t>
            </a:r>
          </a:p>
        </p:txBody>
      </p:sp>
      <p:sp>
        <p:nvSpPr>
          <p:cNvPr id="3" name="Shape 3"/>
          <p:cNvSpPr/>
          <p:nvPr/>
        </p:nvSpPr>
        <p:spPr>
          <a:xfrm>
            <a:off x="658368" y="98755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b="0">
                <a:solidFill>
                  <a:srgbClr val="667085"/>
                </a:solidFill>
              </a:rPr>
              <a:t>The design reflects the special risk of a provider-sponsored health plan: internal claims need scrutiny too.</a:t>
            </a:r>
          </a:p>
        </p:txBody>
      </p:sp>
      <p:cxnSp>
        <p:nvCxnSpPr>
          <p:cNvPr id="4" name="Shape 4"/>
          <p:cNvCxnSpPr/>
          <p:nvPr/>
        </p:nvCxnSpPr>
        <p:spPr>
          <a:xfrm>
            <a:off x="658368" y="1389888"/>
            <a:ext cx="10817352" cy="0"/>
          </a:xfrm>
          <a:prstGeom prst="line">
            <a:avLst/>
          </a:prstGeom>
          <a:ln w="12700">
            <a:solidFill>
              <a:srgbClr val="E6E8EF"/>
            </a:solidFill>
          </a:ln>
        </p:spPr>
      </p:cxnSp>
      <p:sp>
        <p:nvSpPr>
          <p:cNvPr id="5" name="Shape 5"/>
          <p:cNvSpPr/>
          <p:nvPr/>
        </p:nvSpPr>
        <p:spPr>
          <a:xfrm>
            <a:off x="822960" y="1783080"/>
            <a:ext cx="2011680" cy="438912"/>
          </a:xfrm>
          <a:prstGeom prst="roundRect">
            <a:avLst/>
          </a:prstGeom>
          <a:solidFill>
            <a:srgbClr val="1BA7A6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960120" y="1883664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Gate checks</a:t>
            </a:r>
          </a:p>
        </p:txBody>
      </p:sp>
      <p:sp>
        <p:nvSpPr>
          <p:cNvPr id="7" name="Shape 7"/>
          <p:cNvSpPr/>
          <p:nvPr/>
        </p:nvSpPr>
        <p:spPr>
          <a:xfrm>
            <a:off x="3127248" y="1810512"/>
            <a:ext cx="7086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0">
                <a:solidFill>
                  <a:srgbClr val="202124"/>
                </a:solidFill>
              </a:rPr>
              <a:t>Identity, enrollment validation, payment verification</a:t>
            </a:r>
          </a:p>
        </p:txBody>
      </p:sp>
      <p:sp>
        <p:nvSpPr>
          <p:cNvPr id="8" name="Shape 8"/>
          <p:cNvSpPr/>
          <p:nvPr/>
        </p:nvSpPr>
        <p:spPr>
          <a:xfrm>
            <a:off x="822960" y="2743200"/>
            <a:ext cx="2011680" cy="438912"/>
          </a:xfrm>
          <a:prstGeom prst="roundRect">
            <a:avLst/>
          </a:prstGeom>
          <a:solidFill>
            <a:srgbClr val="292A83"/>
          </a:solid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960120" y="2843784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Rules engine</a:t>
            </a:r>
          </a:p>
        </p:txBody>
      </p:sp>
      <p:sp>
        <p:nvSpPr>
          <p:cNvPr id="10" name="Shape 10"/>
          <p:cNvSpPr/>
          <p:nvPr/>
        </p:nvSpPr>
        <p:spPr>
          <a:xfrm>
            <a:off x="3127248" y="2770632"/>
            <a:ext cx="7086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0">
                <a:solidFill>
                  <a:srgbClr val="202124"/>
                </a:solidFill>
              </a:rPr>
              <a:t>Pre-auth and claim heuristics, tariff and pathway checks</a:t>
            </a:r>
          </a:p>
        </p:txBody>
      </p:sp>
      <p:sp>
        <p:nvSpPr>
          <p:cNvPr id="11" name="Shape 11"/>
          <p:cNvSpPr/>
          <p:nvPr/>
        </p:nvSpPr>
        <p:spPr>
          <a:xfrm>
            <a:off x="822960" y="3703320"/>
            <a:ext cx="2011680" cy="438912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</p:sp>
      <p:sp>
        <p:nvSpPr>
          <p:cNvPr id="12" name="Shape 12"/>
          <p:cNvSpPr/>
          <p:nvPr/>
        </p:nvSpPr>
        <p:spPr>
          <a:xfrm>
            <a:off x="960120" y="3803904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Anomaly detection</a:t>
            </a:r>
          </a:p>
        </p:txBody>
      </p:sp>
      <p:sp>
        <p:nvSpPr>
          <p:cNvPr id="13" name="Shape 13"/>
          <p:cNvSpPr/>
          <p:nvPr/>
        </p:nvSpPr>
        <p:spPr>
          <a:xfrm>
            <a:off x="3127248" y="3730752"/>
            <a:ext cx="7086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0">
                <a:solidFill>
                  <a:srgbClr val="202124"/>
                </a:solidFill>
              </a:rPr>
              <a:t>Provider, member, broker, and check-in pattern review</a:t>
            </a:r>
          </a:p>
        </p:txBody>
      </p:sp>
      <p:sp>
        <p:nvSpPr>
          <p:cNvPr id="14" name="Shape 14"/>
          <p:cNvSpPr/>
          <p:nvPr/>
        </p:nvSpPr>
        <p:spPr>
          <a:xfrm>
            <a:off x="822960" y="4663440"/>
            <a:ext cx="2011680" cy="438912"/>
          </a:xfrm>
          <a:prstGeom prst="roundRect">
            <a:avLst/>
          </a:prstGeom>
          <a:solidFill>
            <a:srgbClr val="F5B642"/>
          </a:solidFill>
          <a:ln>
            <a:noFill/>
          </a:ln>
        </p:spPr>
      </p:sp>
      <p:sp>
        <p:nvSpPr>
          <p:cNvPr id="15" name="Shape 15"/>
          <p:cNvSpPr/>
          <p:nvPr/>
        </p:nvSpPr>
        <p:spPr>
          <a:xfrm>
            <a:off x="960120" y="4764024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Immutable audit</a:t>
            </a:r>
          </a:p>
        </p:txBody>
      </p:sp>
      <p:sp>
        <p:nvSpPr>
          <p:cNvPr id="16" name="Shape 16"/>
          <p:cNvSpPr/>
          <p:nvPr/>
        </p:nvSpPr>
        <p:spPr>
          <a:xfrm>
            <a:off x="3127248" y="4690872"/>
            <a:ext cx="7086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0">
                <a:solidFill>
                  <a:srgbClr val="202124"/>
                </a:solidFill>
              </a:rPr>
              <a:t>Overrides, flags, investigations, and outcomes retained</a:t>
            </a:r>
          </a:p>
        </p:txBody>
      </p:sp>
      <p:sp>
        <p:nvSpPr>
          <p:cNvPr id="17" name="Shape 17"/>
          <p:cNvSpPr/>
          <p:nvPr/>
        </p:nvSpPr>
        <p:spPr>
          <a:xfrm>
            <a:off x="822960" y="5806440"/>
            <a:ext cx="8961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1">
                <a:solidFill>
                  <a:srgbClr val="262A5F"/>
                </a:solidFill>
              </a:rPr>
              <a:t>Key difference: the system does not assume Avenue facilities are automatically low-risk; it audits the operating model itself.</a:t>
            </a:r>
          </a:p>
        </p:txBody>
      </p:sp>
      <p:sp>
        <p:nvSpPr>
          <p:cNvPr id="18" name="Shape 18"/>
          <p:cNvSpPr/>
          <p:nvPr/>
        </p:nvSpPr>
        <p:spPr>
          <a:xfrm>
            <a:off x="10881360" y="644652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900" b="1">
                <a:solidFill>
                  <a:srgbClr val="667085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8368" y="45720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200" b="1">
                <a:solidFill>
                  <a:srgbClr val="292A83"/>
                </a:solidFill>
              </a:rPr>
              <a:t>Finance is connected to the membership event stream</a:t>
            </a:r>
          </a:p>
        </p:txBody>
      </p:sp>
      <p:sp>
        <p:nvSpPr>
          <p:cNvPr id="3" name="Shape 3"/>
          <p:cNvSpPr/>
          <p:nvPr/>
        </p:nvSpPr>
        <p:spPr>
          <a:xfrm>
            <a:off x="658368" y="98755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b="0">
                <a:solidFill>
                  <a:srgbClr val="667085"/>
                </a:solidFill>
              </a:rPr>
              <a:t>Contributions, invoices, payments, claim liabilities, GL entries, and statements live with the operational record.</a:t>
            </a:r>
          </a:p>
        </p:txBody>
      </p:sp>
      <p:cxnSp>
        <p:nvCxnSpPr>
          <p:cNvPr id="4" name="Shape 4"/>
          <p:cNvCxnSpPr/>
          <p:nvPr/>
        </p:nvCxnSpPr>
        <p:spPr>
          <a:xfrm>
            <a:off x="658368" y="1389888"/>
            <a:ext cx="10817352" cy="0"/>
          </a:xfrm>
          <a:prstGeom prst="line">
            <a:avLst/>
          </a:prstGeom>
          <a:ln w="12700">
            <a:solidFill>
              <a:srgbClr val="E6E8EF"/>
            </a:solidFill>
          </a:ln>
        </p:spPr>
      </p:cxnSp>
      <p:sp>
        <p:nvSpPr>
          <p:cNvPr id="5" name="Shape 5"/>
          <p:cNvSpPr/>
          <p:nvPr/>
        </p:nvSpPr>
        <p:spPr>
          <a:xfrm>
            <a:off x="822960" y="1828800"/>
            <a:ext cx="406908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700" b="1">
                <a:solidFill>
                  <a:srgbClr val="262A5F"/>
                </a:solidFill>
              </a:rPr>
              <a:t>Insurance-like discipline without insurance-language drift</a:t>
            </a:r>
          </a:p>
        </p:txBody>
      </p:sp>
      <p:sp>
        <p:nvSpPr>
          <p:cNvPr id="6" name="Shape 6"/>
          <p:cNvSpPr/>
          <p:nvPr/>
        </p:nvSpPr>
        <p:spPr>
          <a:xfrm>
            <a:off x="868680" y="2926080"/>
            <a:ext cx="4206240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00" b="0">
                <a:solidFill>
                  <a:srgbClr val="202124"/>
                </a:solidFill>
              </a:rPr>
              <a:t>The product consistently speaks in membership terms: member, contribution, package, benefit. Under the hood, it still supports billing runs, invoices, payments, ledgers, reports, and accounting controls.</a:t>
            </a:r>
          </a:p>
        </p:txBody>
      </p:sp>
      <p:sp>
        <p:nvSpPr>
          <p:cNvPr id="7" name="Shape 7"/>
          <p:cNvSpPr/>
          <p:nvPr/>
        </p:nvSpPr>
        <p:spPr>
          <a:xfrm>
            <a:off x="5669280" y="1783080"/>
            <a:ext cx="5212080" cy="3611880"/>
          </a:xfrm>
          <a:prstGeom prst="roundRect">
            <a:avLst/>
          </a:prstGeom>
          <a:solidFill>
            <a:srgbClr val="F7F8FB"/>
          </a:solidFill>
          <a:ln w="12700">
            <a:solidFill>
              <a:srgbClr val="E6E8EF"/>
            </a:solidFill>
          </a:ln>
        </p:spPr>
      </p:sp>
      <p:sp>
        <p:nvSpPr>
          <p:cNvPr id="8" name="Shape 8"/>
          <p:cNvSpPr/>
          <p:nvPr/>
        </p:nvSpPr>
        <p:spPr>
          <a:xfrm>
            <a:off x="5989320" y="205740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00" b="1">
                <a:solidFill>
                  <a:srgbClr val="292A83"/>
                </a:solidFill>
              </a:rPr>
              <a:t>Finance loop</a:t>
            </a:r>
          </a:p>
        </p:txBody>
      </p:sp>
      <p:sp>
        <p:nvSpPr>
          <p:cNvPr id="9" name="Shape 9"/>
          <p:cNvSpPr/>
          <p:nvPr/>
        </p:nvSpPr>
        <p:spPr>
          <a:xfrm>
            <a:off x="5989320" y="2743200"/>
            <a:ext cx="4206240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400" b="1">
                <a:solidFill>
                  <a:srgbClr val="202124"/>
                </a:solidFill>
              </a:rPr>
              <a:t>Contribution rate → invoice → payment → claim approval → GL posting → report/export</a:t>
            </a:r>
          </a:p>
        </p:txBody>
      </p:sp>
      <p:sp>
        <p:nvSpPr>
          <p:cNvPr id="10" name="Shape 10"/>
          <p:cNvSpPr/>
          <p:nvPr/>
        </p:nvSpPr>
        <p:spPr>
          <a:xfrm>
            <a:off x="10881360" y="644652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900" b="1">
                <a:solidFill>
                  <a:srgbClr val="667085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8368" y="45720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200" b="1">
                <a:solidFill>
                  <a:srgbClr val="292A83"/>
                </a:solidFill>
              </a:rPr>
              <a:t>Self-funded schemes are not spreadsheets bolted on the side</a:t>
            </a:r>
          </a:p>
        </p:txBody>
      </p:sp>
      <p:sp>
        <p:nvSpPr>
          <p:cNvPr id="3" name="Shape 3"/>
          <p:cNvSpPr/>
          <p:nvPr/>
        </p:nvSpPr>
        <p:spPr>
          <a:xfrm>
            <a:off x="658368" y="98755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b="0">
                <a:solidFill>
                  <a:srgbClr val="667085"/>
                </a:solidFill>
              </a:rPr>
              <a:t>The fund portal gives employer-funded pools operational controls usually missing from competitor offerings.</a:t>
            </a:r>
          </a:p>
        </p:txBody>
      </p:sp>
      <p:cxnSp>
        <p:nvCxnSpPr>
          <p:cNvPr id="4" name="Shape 4"/>
          <p:cNvCxnSpPr/>
          <p:nvPr/>
        </p:nvCxnSpPr>
        <p:spPr>
          <a:xfrm>
            <a:off x="658368" y="1389888"/>
            <a:ext cx="10817352" cy="0"/>
          </a:xfrm>
          <a:prstGeom prst="line">
            <a:avLst/>
          </a:prstGeom>
          <a:ln w="12700">
            <a:solidFill>
              <a:srgbClr val="E6E8EF"/>
            </a:solidFill>
          </a:ln>
        </p:spPr>
      </p:cxnSp>
      <p:sp>
        <p:nvSpPr>
          <p:cNvPr id="5" name="Shape 5"/>
          <p:cNvSpPr/>
          <p:nvPr/>
        </p:nvSpPr>
        <p:spPr>
          <a:xfrm>
            <a:off x="777240" y="1783080"/>
            <a:ext cx="4983480" cy="3566160"/>
          </a:xfrm>
          <a:prstGeom prst="roundRect">
            <a:avLst/>
          </a:prstGeom>
          <a:solidFill>
            <a:srgbClr val="F7F8FB"/>
          </a:solidFill>
          <a:ln w="12700">
            <a:solidFill>
              <a:srgbClr val="E6E8EF"/>
            </a:solidFill>
          </a:ln>
        </p:spPr>
      </p:sp>
      <p:sp>
        <p:nvSpPr>
          <p:cNvPr id="6" name="Shape 6"/>
          <p:cNvSpPr/>
          <p:nvPr/>
        </p:nvSpPr>
        <p:spPr>
          <a:xfrm>
            <a:off x="1051560" y="205740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1">
                <a:solidFill>
                  <a:srgbClr val="292A83"/>
                </a:solidFill>
              </a:rPr>
              <a:t>Fund control surface</a:t>
            </a:r>
          </a:p>
        </p:txBody>
      </p:sp>
      <p:sp>
        <p:nvSpPr>
          <p:cNvPr id="7" name="Shape 7"/>
          <p:cNvSpPr/>
          <p:nvPr/>
        </p:nvSpPr>
        <p:spPr>
          <a:xfrm>
            <a:off x="1051560" y="2697480"/>
            <a:ext cx="416052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0">
                <a:solidFill>
                  <a:srgbClr val="202124"/>
                </a:solidFill>
              </a:rPr>
              <a:t>Deposits and top-ups</a:t>
            </a:r>
          </a:p>
          <a:p>
            <a:pPr algn="l"/>
            <a:r>
              <a:rPr lang="en-US" sz="1800" b="0">
                <a:solidFill>
                  <a:srgbClr val="202124"/>
                </a:solidFill>
              </a:rPr>
              <a:t>Minimum balance alerts</a:t>
            </a:r>
          </a:p>
          <a:p>
            <a:pPr algn="l"/>
            <a:r>
              <a:rPr lang="en-US" sz="1800" b="0">
                <a:solidFill>
                  <a:srgbClr val="202124"/>
                </a:solidFill>
              </a:rPr>
              <a:t>Claim deductions</a:t>
            </a:r>
          </a:p>
          <a:p>
            <a:pPr algn="l"/>
            <a:r>
              <a:rPr lang="en-US" sz="1800" b="0">
                <a:solidFill>
                  <a:srgbClr val="202124"/>
                </a:solidFill>
              </a:rPr>
              <a:t>Admin fee invoicing</a:t>
            </a:r>
          </a:p>
          <a:p>
            <a:pPr algn="l"/>
            <a:r>
              <a:rPr lang="en-US" sz="1800" b="0">
                <a:solidFill>
                  <a:srgbClr val="202124"/>
                </a:solidFill>
              </a:rPr>
              <a:t>Category holds</a:t>
            </a:r>
          </a:p>
          <a:p>
            <a:pPr algn="l"/>
            <a:r>
              <a:rPr lang="en-US" sz="1800" b="0">
                <a:solidFill>
                  <a:srgbClr val="202124"/>
                </a:solidFill>
              </a:rPr>
              <a:t>Exportable statements</a:t>
            </a:r>
          </a:p>
        </p:txBody>
      </p:sp>
      <p:sp>
        <p:nvSpPr>
          <p:cNvPr id="8" name="Shape 8"/>
          <p:cNvSpPr/>
          <p:nvPr/>
        </p:nvSpPr>
        <p:spPr>
          <a:xfrm>
            <a:off x="6400800" y="1874520"/>
            <a:ext cx="438912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700" b="1">
                <a:solidFill>
                  <a:srgbClr val="262A5F"/>
                </a:solidFill>
              </a:rPr>
              <a:t>This makes the hospital a transparent administrator of the client's money, not just a processor of invoices.</a:t>
            </a:r>
          </a:p>
        </p:txBody>
      </p:sp>
      <p:sp>
        <p:nvSpPr>
          <p:cNvPr id="9" name="Shape 9"/>
          <p:cNvSpPr/>
          <p:nvPr/>
        </p:nvSpPr>
        <p:spPr>
          <a:xfrm>
            <a:off x="6446520" y="3337560"/>
            <a:ext cx="38862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>
                <a:solidFill>
                  <a:srgbClr val="202124"/>
                </a:solidFill>
              </a:rPr>
              <a:t>For corporates, this can be the wedge: better visibility than insurance, better care flow than a standalone TPA.</a:t>
            </a:r>
          </a:p>
        </p:txBody>
      </p:sp>
      <p:sp>
        <p:nvSpPr>
          <p:cNvPr id="10" name="Shape 10"/>
          <p:cNvSpPr/>
          <p:nvPr/>
        </p:nvSpPr>
        <p:spPr>
          <a:xfrm>
            <a:off x="10881360" y="644652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900" b="1">
                <a:solidFill>
                  <a:srgbClr val="667085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8368" y="45720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200" b="1">
                <a:solidFill>
                  <a:srgbClr val="292A83"/>
                </a:solidFill>
              </a:rPr>
              <a:t>The member experience is more than eligibility lookup</a:t>
            </a:r>
          </a:p>
        </p:txBody>
      </p:sp>
      <p:sp>
        <p:nvSpPr>
          <p:cNvPr id="3" name="Shape 3"/>
          <p:cNvSpPr/>
          <p:nvPr/>
        </p:nvSpPr>
        <p:spPr>
          <a:xfrm>
            <a:off x="658368" y="98755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b="0">
                <a:solidFill>
                  <a:srgbClr val="667085"/>
                </a:solidFill>
              </a:rPr>
              <a:t>Members can see the program working for them, not just wait for back-office responses.</a:t>
            </a:r>
          </a:p>
        </p:txBody>
      </p:sp>
      <p:cxnSp>
        <p:nvCxnSpPr>
          <p:cNvPr id="4" name="Shape 4"/>
          <p:cNvCxnSpPr/>
          <p:nvPr/>
        </p:nvCxnSpPr>
        <p:spPr>
          <a:xfrm>
            <a:off x="658368" y="1389888"/>
            <a:ext cx="10817352" cy="0"/>
          </a:xfrm>
          <a:prstGeom prst="line">
            <a:avLst/>
          </a:prstGeom>
          <a:ln w="12700">
            <a:solidFill>
              <a:srgbClr val="E6E8EF"/>
            </a:solidFill>
          </a:ln>
        </p:spPr>
      </p:cxnSp>
      <p:sp>
        <p:nvSpPr>
          <p:cNvPr id="5" name="Shape 5"/>
          <p:cNvSpPr/>
          <p:nvPr/>
        </p:nvSpPr>
        <p:spPr>
          <a:xfrm>
            <a:off x="822960" y="1691640"/>
            <a:ext cx="3063240" cy="4206240"/>
          </a:xfrm>
          <a:prstGeom prst="roundRect">
            <a:avLst/>
          </a:prstGeom>
          <a:solidFill>
            <a:srgbClr val="262A5F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1115568" y="201168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b="1">
                <a:solidFill>
                  <a:srgbClr val="DDE5FF"/>
                </a:solidFill>
              </a:rPr>
              <a:t>Avenue Healthcare</a:t>
            </a:r>
          </a:p>
        </p:txBody>
      </p:sp>
      <p:sp>
        <p:nvSpPr>
          <p:cNvPr id="7" name="Shape 7"/>
          <p:cNvSpPr/>
          <p:nvPr/>
        </p:nvSpPr>
        <p:spPr>
          <a:xfrm>
            <a:off x="1115568" y="2514600"/>
            <a:ext cx="242316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500" b="1">
                <a:solidFill>
                  <a:srgbClr val="FFFFFF"/>
                </a:solidFill>
              </a:rPr>
              <a:t>Digital member card</a:t>
            </a:r>
          </a:p>
        </p:txBody>
      </p:sp>
      <p:sp>
        <p:nvSpPr>
          <p:cNvPr id="8" name="Shape 8"/>
          <p:cNvSpPr/>
          <p:nvPr/>
        </p:nvSpPr>
        <p:spPr>
          <a:xfrm>
            <a:off x="1115568" y="3429000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b="0">
                <a:solidFill>
                  <a:srgbClr val="DDE5FF"/>
                </a:solidFill>
              </a:rPr>
              <a:t>Benefits, dependents, utilization, pre-auth, facilities, support, and device security in one portal.</a:t>
            </a:r>
          </a:p>
        </p:txBody>
      </p:sp>
      <p:sp>
        <p:nvSpPr>
          <p:cNvPr id="9" name="Shape 9"/>
          <p:cNvSpPr/>
          <p:nvPr/>
        </p:nvSpPr>
        <p:spPr>
          <a:xfrm>
            <a:off x="4754880" y="1874520"/>
            <a:ext cx="58978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F"/>
            </a:solidFill>
          </a:ln>
        </p:spPr>
      </p:sp>
      <p:sp>
        <p:nvSpPr>
          <p:cNvPr id="10" name="Shape 10"/>
          <p:cNvSpPr/>
          <p:nvPr/>
        </p:nvSpPr>
        <p:spPr>
          <a:xfrm>
            <a:off x="5074920" y="2148840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200" b="1">
                <a:solidFill>
                  <a:srgbClr val="292A83"/>
                </a:solidFill>
              </a:rPr>
              <a:t>Why it changes operations</a:t>
            </a:r>
          </a:p>
        </p:txBody>
      </p:sp>
      <p:sp>
        <p:nvSpPr>
          <p:cNvPr id="11" name="Shape 11"/>
          <p:cNvSpPr/>
          <p:nvPr/>
        </p:nvSpPr>
        <p:spPr>
          <a:xfrm>
            <a:off x="5074920" y="2834640"/>
            <a:ext cx="4983480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0">
                <a:solidFill>
                  <a:srgbClr val="202124"/>
                </a:solidFill>
              </a:rPr>
              <a:t>Fewer calls to HR and customer service</a:t>
            </a:r>
          </a:p>
          <a:p>
            <a:pPr algn="l"/>
            <a:r>
              <a:rPr lang="en-US" sz="1800" b="0">
                <a:solidFill>
                  <a:srgbClr val="202124"/>
                </a:solidFill>
              </a:rPr>
              <a:t>Members understand remaining benefits</a:t>
            </a:r>
          </a:p>
          <a:p>
            <a:pPr algn="l"/>
            <a:r>
              <a:rPr lang="en-US" sz="1800" b="0">
                <a:solidFill>
                  <a:srgbClr val="202124"/>
                </a:solidFill>
              </a:rPr>
              <a:t>Pre-auth and utilization are visible</a:t>
            </a:r>
          </a:p>
          <a:p>
            <a:pPr algn="l"/>
            <a:r>
              <a:rPr lang="en-US" sz="1800" b="0">
                <a:solidFill>
                  <a:srgbClr val="202124"/>
                </a:solidFill>
              </a:rPr>
              <a:t>Security actions are member-controlled</a:t>
            </a:r>
          </a:p>
          <a:p>
            <a:pPr algn="l"/>
            <a:r>
              <a:rPr lang="en-US" sz="1800" b="0">
                <a:solidFill>
                  <a:srgbClr val="202124"/>
                </a:solidFill>
              </a:rPr>
              <a:t>Support has membership context</a:t>
            </a:r>
          </a:p>
        </p:txBody>
      </p:sp>
      <p:sp>
        <p:nvSpPr>
          <p:cNvPr id="12" name="Shape 12"/>
          <p:cNvSpPr/>
          <p:nvPr/>
        </p:nvSpPr>
        <p:spPr>
          <a:xfrm>
            <a:off x="10881360" y="644652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900" b="1">
                <a:solidFill>
                  <a:srgbClr val="667085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8368" y="45720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200" b="1">
                <a:solidFill>
                  <a:srgbClr val="292A83"/>
                </a:solidFill>
              </a:rPr>
              <a:t>The platform is built as a tenant-ready operating system</a:t>
            </a:r>
          </a:p>
        </p:txBody>
      </p:sp>
      <p:sp>
        <p:nvSpPr>
          <p:cNvPr id="3" name="Shape 3"/>
          <p:cNvSpPr/>
          <p:nvPr/>
        </p:nvSpPr>
        <p:spPr>
          <a:xfrm>
            <a:off x="658368" y="98755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b="0">
                <a:solidFill>
                  <a:srgbClr val="667085"/>
                </a:solidFill>
              </a:rPr>
              <a:t>The implementation is not a one-off portal: it has tenant branding, role controls, APIs, jobs, storage, and audit services.</a:t>
            </a:r>
          </a:p>
        </p:txBody>
      </p:sp>
      <p:cxnSp>
        <p:nvCxnSpPr>
          <p:cNvPr id="4" name="Shape 4"/>
          <p:cNvCxnSpPr/>
          <p:nvPr/>
        </p:nvCxnSpPr>
        <p:spPr>
          <a:xfrm>
            <a:off x="658368" y="1389888"/>
            <a:ext cx="10817352" cy="0"/>
          </a:xfrm>
          <a:prstGeom prst="line">
            <a:avLst/>
          </a:prstGeom>
          <a:ln w="12700">
            <a:solidFill>
              <a:srgbClr val="E6E8EF"/>
            </a:solidFill>
          </a:ln>
        </p:spPr>
      </p:cxnSp>
      <p:sp>
        <p:nvSpPr>
          <p:cNvPr id="5" name="Shape 5"/>
          <p:cNvSpPr/>
          <p:nvPr/>
        </p:nvSpPr>
        <p:spPr>
          <a:xfrm>
            <a:off x="777240" y="16916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1">
                <a:solidFill>
                  <a:srgbClr val="292A83"/>
                </a:solidFill>
              </a:rPr>
              <a:t>Multi-tenant SaaS</a:t>
            </a:r>
          </a:p>
        </p:txBody>
      </p:sp>
      <p:sp>
        <p:nvSpPr>
          <p:cNvPr id="6" name="Shape 6"/>
          <p:cNvSpPr/>
          <p:nvPr/>
        </p:nvSpPr>
        <p:spPr>
          <a:xfrm>
            <a:off x="777240" y="2075688"/>
            <a:ext cx="4343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00" b="0">
                <a:solidFill>
                  <a:srgbClr val="202124"/>
                </a:solidFill>
              </a:rPr>
              <a:t>Tenant-scoped data and white-label theming</a:t>
            </a:r>
          </a:p>
        </p:txBody>
      </p:sp>
      <p:cxnSp>
        <p:nvCxnSpPr>
          <p:cNvPr id="7" name="Shape 7"/>
          <p:cNvCxnSpPr/>
          <p:nvPr/>
        </p:nvCxnSpPr>
        <p:spPr>
          <a:xfrm>
            <a:off x="777240" y="2560320"/>
            <a:ext cx="4480560" cy="0"/>
          </a:xfrm>
          <a:prstGeom prst="line">
            <a:avLst/>
          </a:prstGeom>
          <a:ln w="12700">
            <a:solidFill>
              <a:srgbClr val="E6E8EF"/>
            </a:solidFill>
          </a:ln>
        </p:spPr>
      </p:cxnSp>
      <p:sp>
        <p:nvSpPr>
          <p:cNvPr id="8" name="Shape 8"/>
          <p:cNvSpPr/>
          <p:nvPr/>
        </p:nvSpPr>
        <p:spPr>
          <a:xfrm>
            <a:off x="6309360" y="16916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1">
                <a:solidFill>
                  <a:srgbClr val="292A83"/>
                </a:solidFill>
              </a:rPr>
              <a:t>Role-based access</a:t>
            </a:r>
          </a:p>
        </p:txBody>
      </p:sp>
      <p:sp>
        <p:nvSpPr>
          <p:cNvPr id="9" name="Shape 9"/>
          <p:cNvSpPr/>
          <p:nvPr/>
        </p:nvSpPr>
        <p:spPr>
          <a:xfrm>
            <a:off x="6309360" y="2075688"/>
            <a:ext cx="4343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00" b="0">
                <a:solidFill>
                  <a:srgbClr val="202124"/>
                </a:solidFill>
              </a:rPr>
              <a:t>Admin, clinical, finance, HR, broker, member, fund roles</a:t>
            </a:r>
          </a:p>
        </p:txBody>
      </p:sp>
      <p:cxnSp>
        <p:nvCxnSpPr>
          <p:cNvPr id="10" name="Shape 10"/>
          <p:cNvCxnSpPr/>
          <p:nvPr/>
        </p:nvCxnSpPr>
        <p:spPr>
          <a:xfrm>
            <a:off x="6309360" y="2560320"/>
            <a:ext cx="4480560" cy="0"/>
          </a:xfrm>
          <a:prstGeom prst="line">
            <a:avLst/>
          </a:prstGeom>
          <a:ln w="12700">
            <a:solidFill>
              <a:srgbClr val="E6E8EF"/>
            </a:solidFill>
          </a:ln>
        </p:spPr>
      </p:cxnSp>
      <p:sp>
        <p:nvSpPr>
          <p:cNvPr id="11" name="Shape 11"/>
          <p:cNvSpPr/>
          <p:nvPr/>
        </p:nvSpPr>
        <p:spPr>
          <a:xfrm>
            <a:off x="777240" y="29260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1">
                <a:solidFill>
                  <a:srgbClr val="292A83"/>
                </a:solidFill>
              </a:rPr>
              <a:t>API layer</a:t>
            </a:r>
          </a:p>
        </p:txBody>
      </p:sp>
      <p:sp>
        <p:nvSpPr>
          <p:cNvPr id="12" name="Shape 12"/>
          <p:cNvSpPr/>
          <p:nvPr/>
        </p:nvSpPr>
        <p:spPr>
          <a:xfrm>
            <a:off x="777240" y="3310128"/>
            <a:ext cx="4343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00" b="0">
                <a:solidFill>
                  <a:srgbClr val="202124"/>
                </a:solidFill>
              </a:rPr>
              <a:t>tRPC and REST-style endpoints for eligibility, claims, benefits, pre-auth</a:t>
            </a:r>
          </a:p>
        </p:txBody>
      </p:sp>
      <p:cxnSp>
        <p:nvCxnSpPr>
          <p:cNvPr id="13" name="Shape 13"/>
          <p:cNvCxnSpPr/>
          <p:nvPr/>
        </p:nvCxnSpPr>
        <p:spPr>
          <a:xfrm>
            <a:off x="777240" y="3794760"/>
            <a:ext cx="4480560" cy="0"/>
          </a:xfrm>
          <a:prstGeom prst="line">
            <a:avLst/>
          </a:prstGeom>
          <a:ln w="12700">
            <a:solidFill>
              <a:srgbClr val="E6E8EF"/>
            </a:solidFill>
          </a:ln>
        </p:spPr>
      </p:cxnSp>
      <p:sp>
        <p:nvSpPr>
          <p:cNvPr id="14" name="Shape 14"/>
          <p:cNvSpPr/>
          <p:nvPr/>
        </p:nvSpPr>
        <p:spPr>
          <a:xfrm>
            <a:off x="6309360" y="29260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1">
                <a:solidFill>
                  <a:srgbClr val="292A83"/>
                </a:solidFill>
              </a:rPr>
              <a:t>Background jobs</a:t>
            </a:r>
          </a:p>
        </p:txBody>
      </p:sp>
      <p:sp>
        <p:nvSpPr>
          <p:cNvPr id="15" name="Shape 15"/>
          <p:cNvSpPr/>
          <p:nvPr/>
        </p:nvSpPr>
        <p:spPr>
          <a:xfrm>
            <a:off x="6309360" y="3310128"/>
            <a:ext cx="4343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00" b="0">
                <a:solidFill>
                  <a:srgbClr val="202124"/>
                </a:solidFill>
              </a:rPr>
              <a:t>Billing runs, renewals, reports, escalations, balance alerts</a:t>
            </a:r>
          </a:p>
        </p:txBody>
      </p:sp>
      <p:cxnSp>
        <p:nvCxnSpPr>
          <p:cNvPr id="16" name="Shape 16"/>
          <p:cNvCxnSpPr/>
          <p:nvPr/>
        </p:nvCxnSpPr>
        <p:spPr>
          <a:xfrm>
            <a:off x="6309360" y="3794760"/>
            <a:ext cx="4480560" cy="0"/>
          </a:xfrm>
          <a:prstGeom prst="line">
            <a:avLst/>
          </a:prstGeom>
          <a:ln w="12700">
            <a:solidFill>
              <a:srgbClr val="E6E8EF"/>
            </a:solidFill>
          </a:ln>
        </p:spPr>
      </p:cxnSp>
      <p:sp>
        <p:nvSpPr>
          <p:cNvPr id="17" name="Shape 17"/>
          <p:cNvSpPr/>
          <p:nvPr/>
        </p:nvSpPr>
        <p:spPr>
          <a:xfrm>
            <a:off x="777240" y="41605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1">
                <a:solidFill>
                  <a:srgbClr val="292A83"/>
                </a:solidFill>
              </a:rPr>
              <a:t>Document storage</a:t>
            </a:r>
          </a:p>
        </p:txBody>
      </p:sp>
      <p:sp>
        <p:nvSpPr>
          <p:cNvPr id="18" name="Shape 18"/>
          <p:cNvSpPr/>
          <p:nvPr/>
        </p:nvSpPr>
        <p:spPr>
          <a:xfrm>
            <a:off x="777240" y="4544568"/>
            <a:ext cx="4343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00" b="0">
                <a:solidFill>
                  <a:srgbClr val="202124"/>
                </a:solidFill>
              </a:rPr>
              <a:t>Claims, contracts, invoices, and correspondence</a:t>
            </a:r>
          </a:p>
        </p:txBody>
      </p:sp>
      <p:cxnSp>
        <p:nvCxnSpPr>
          <p:cNvPr id="19" name="Shape 19"/>
          <p:cNvCxnSpPr/>
          <p:nvPr/>
        </p:nvCxnSpPr>
        <p:spPr>
          <a:xfrm>
            <a:off x="777240" y="5029200"/>
            <a:ext cx="4480560" cy="0"/>
          </a:xfrm>
          <a:prstGeom prst="line">
            <a:avLst/>
          </a:prstGeom>
          <a:ln w="12700">
            <a:solidFill>
              <a:srgbClr val="E6E8EF"/>
            </a:solidFill>
          </a:ln>
        </p:spPr>
      </p:cxnSp>
      <p:sp>
        <p:nvSpPr>
          <p:cNvPr id="20" name="Shape 20"/>
          <p:cNvSpPr/>
          <p:nvPr/>
        </p:nvSpPr>
        <p:spPr>
          <a:xfrm>
            <a:off x="6309360" y="41605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1">
                <a:solidFill>
                  <a:srgbClr val="292A83"/>
                </a:solidFill>
              </a:rPr>
              <a:t>PWA/security</a:t>
            </a:r>
          </a:p>
        </p:txBody>
      </p:sp>
      <p:sp>
        <p:nvSpPr>
          <p:cNvPr id="21" name="Shape 21"/>
          <p:cNvSpPr/>
          <p:nvPr/>
        </p:nvSpPr>
        <p:spPr>
          <a:xfrm>
            <a:off x="6309360" y="4544568"/>
            <a:ext cx="4343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00" b="0">
                <a:solidFill>
                  <a:srgbClr val="202124"/>
                </a:solidFill>
              </a:rPr>
              <a:t>Member check-in and WebAuthn device registration</a:t>
            </a:r>
          </a:p>
        </p:txBody>
      </p:sp>
      <p:cxnSp>
        <p:nvCxnSpPr>
          <p:cNvPr id="22" name="Shape 22"/>
          <p:cNvCxnSpPr/>
          <p:nvPr/>
        </p:nvCxnSpPr>
        <p:spPr>
          <a:xfrm>
            <a:off x="6309360" y="5029200"/>
            <a:ext cx="4480560" cy="0"/>
          </a:xfrm>
          <a:prstGeom prst="line">
            <a:avLst/>
          </a:prstGeom>
          <a:ln w="12700">
            <a:solidFill>
              <a:srgbClr val="E6E8EF"/>
            </a:solidFill>
          </a:ln>
        </p:spPr>
      </p:cxnSp>
      <p:sp>
        <p:nvSpPr>
          <p:cNvPr id="23" name="Shape 23"/>
          <p:cNvSpPr/>
          <p:nvPr/>
        </p:nvSpPr>
        <p:spPr>
          <a:xfrm>
            <a:off x="10881360" y="644652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900" b="1">
                <a:solidFill>
                  <a:srgbClr val="667085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8368" y="45720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200" b="1">
                <a:solidFill>
                  <a:srgbClr val="292A83"/>
                </a:solidFill>
              </a:rPr>
              <a:t>What sets it apart from competitors</a:t>
            </a:r>
          </a:p>
        </p:txBody>
      </p:sp>
      <p:sp>
        <p:nvSpPr>
          <p:cNvPr id="3" name="Shape 3"/>
          <p:cNvSpPr/>
          <p:nvPr/>
        </p:nvSpPr>
        <p:spPr>
          <a:xfrm>
            <a:off x="658368" y="98755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b="0">
                <a:solidFill>
                  <a:srgbClr val="667085"/>
                </a:solidFill>
              </a:rPr>
              <a:t>The difference is not one feature. It is how the features reinforce each other.</a:t>
            </a:r>
          </a:p>
        </p:txBody>
      </p:sp>
      <p:cxnSp>
        <p:nvCxnSpPr>
          <p:cNvPr id="4" name="Shape 4"/>
          <p:cNvCxnSpPr/>
          <p:nvPr/>
        </p:nvCxnSpPr>
        <p:spPr>
          <a:xfrm>
            <a:off x="658368" y="1389888"/>
            <a:ext cx="10817352" cy="0"/>
          </a:xfrm>
          <a:prstGeom prst="line">
            <a:avLst/>
          </a:prstGeom>
          <a:ln w="12700">
            <a:solidFill>
              <a:srgbClr val="E6E8EF"/>
            </a:solidFill>
          </a:ln>
        </p:spPr>
      </p:cxnSp>
      <p:sp>
        <p:nvSpPr>
          <p:cNvPr id="5" name="Shape 5"/>
          <p:cNvSpPr/>
          <p:nvPr/>
        </p:nvSpPr>
        <p:spPr>
          <a:xfrm>
            <a:off x="777240" y="1691640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00" b="1">
                <a:solidFill>
                  <a:srgbClr val="667085"/>
                </a:solidFill>
              </a:rPr>
              <a:t>Competitor norm</a:t>
            </a:r>
          </a:p>
        </p:txBody>
      </p:sp>
      <p:sp>
        <p:nvSpPr>
          <p:cNvPr id="6" name="Shape 6"/>
          <p:cNvSpPr/>
          <p:nvPr/>
        </p:nvSpPr>
        <p:spPr>
          <a:xfrm>
            <a:off x="777240" y="198424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0">
                <a:solidFill>
                  <a:srgbClr val="202124"/>
                </a:solidFill>
              </a:rPr>
              <a:t>Separate insurer/TPA/provider tools</a:t>
            </a:r>
          </a:p>
        </p:txBody>
      </p:sp>
      <p:sp>
        <p:nvSpPr>
          <p:cNvPr id="7" name="Shape 7"/>
          <p:cNvSpPr/>
          <p:nvPr/>
        </p:nvSpPr>
        <p:spPr>
          <a:xfrm>
            <a:off x="5806440" y="1691640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00" b="1">
                <a:solidFill>
                  <a:srgbClr val="292A83"/>
                </a:solidFill>
              </a:rPr>
              <a:t>AiCare difference</a:t>
            </a:r>
          </a:p>
        </p:txBody>
      </p:sp>
      <p:sp>
        <p:nvSpPr>
          <p:cNvPr id="8" name="Shape 8"/>
          <p:cNvSpPr/>
          <p:nvPr/>
        </p:nvSpPr>
        <p:spPr>
          <a:xfrm>
            <a:off x="5806440" y="1984248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1">
                <a:solidFill>
                  <a:srgbClr val="262A5F"/>
                </a:solidFill>
              </a:rPr>
              <a:t>One hospital-owned membership operating layer</a:t>
            </a:r>
          </a:p>
        </p:txBody>
      </p:sp>
      <p:cxnSp>
        <p:nvCxnSpPr>
          <p:cNvPr id="9" name="Shape 9"/>
          <p:cNvCxnSpPr/>
          <p:nvPr/>
        </p:nvCxnSpPr>
        <p:spPr>
          <a:xfrm>
            <a:off x="777240" y="2404872"/>
            <a:ext cx="10149840" cy="0"/>
          </a:xfrm>
          <a:prstGeom prst="line">
            <a:avLst/>
          </a:prstGeom>
          <a:ln w="12700">
            <a:solidFill>
              <a:srgbClr val="E6E8EF"/>
            </a:solidFill>
          </a:ln>
        </p:spPr>
      </p:cxnSp>
      <p:sp>
        <p:nvSpPr>
          <p:cNvPr id="10" name="Shape 10"/>
          <p:cNvSpPr/>
          <p:nvPr/>
        </p:nvSpPr>
        <p:spPr>
          <a:xfrm>
            <a:off x="777240" y="2560320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00" b="1">
                <a:solidFill>
                  <a:srgbClr val="667085"/>
                </a:solidFill>
              </a:rPr>
              <a:t>Competitor norm</a:t>
            </a:r>
          </a:p>
        </p:txBody>
      </p:sp>
      <p:sp>
        <p:nvSpPr>
          <p:cNvPr id="11" name="Shape 11"/>
          <p:cNvSpPr/>
          <p:nvPr/>
        </p:nvSpPr>
        <p:spPr>
          <a:xfrm>
            <a:off x="777240" y="285292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0">
                <a:solidFill>
                  <a:srgbClr val="202124"/>
                </a:solidFill>
              </a:rPr>
              <a:t>Card or OTP eligibility checks</a:t>
            </a:r>
          </a:p>
        </p:txBody>
      </p:sp>
      <p:sp>
        <p:nvSpPr>
          <p:cNvPr id="12" name="Shape 12"/>
          <p:cNvSpPr/>
          <p:nvPr/>
        </p:nvSpPr>
        <p:spPr>
          <a:xfrm>
            <a:off x="5806440" y="2560320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00" b="1">
                <a:solidFill>
                  <a:srgbClr val="292A83"/>
                </a:solidFill>
              </a:rPr>
              <a:t>AiCare difference</a:t>
            </a:r>
          </a:p>
        </p:txBody>
      </p:sp>
      <p:sp>
        <p:nvSpPr>
          <p:cNvPr id="13" name="Shape 13"/>
          <p:cNvSpPr/>
          <p:nvPr/>
        </p:nvSpPr>
        <p:spPr>
          <a:xfrm>
            <a:off x="5806440" y="2852928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1">
                <a:solidFill>
                  <a:srgbClr val="262A5F"/>
                </a:solidFill>
              </a:rPr>
              <a:t>Passkey-style check-in plus fallback audit</a:t>
            </a:r>
          </a:p>
        </p:txBody>
      </p:sp>
      <p:cxnSp>
        <p:nvCxnSpPr>
          <p:cNvPr id="14" name="Shape 14"/>
          <p:cNvCxnSpPr/>
          <p:nvPr/>
        </p:nvCxnSpPr>
        <p:spPr>
          <a:xfrm>
            <a:off x="777240" y="3273552"/>
            <a:ext cx="10149840" cy="0"/>
          </a:xfrm>
          <a:prstGeom prst="line">
            <a:avLst/>
          </a:prstGeom>
          <a:ln w="12700">
            <a:solidFill>
              <a:srgbClr val="E6E8EF"/>
            </a:solidFill>
          </a:ln>
        </p:spPr>
      </p:cxnSp>
      <p:sp>
        <p:nvSpPr>
          <p:cNvPr id="15" name="Shape 15"/>
          <p:cNvSpPr/>
          <p:nvPr/>
        </p:nvSpPr>
        <p:spPr>
          <a:xfrm>
            <a:off x="777240" y="3429000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00" b="1">
                <a:solidFill>
                  <a:srgbClr val="667085"/>
                </a:solidFill>
              </a:rPr>
              <a:t>Competitor norm</a:t>
            </a:r>
          </a:p>
        </p:txBody>
      </p:sp>
      <p:sp>
        <p:nvSpPr>
          <p:cNvPr id="16" name="Shape 16"/>
          <p:cNvSpPr/>
          <p:nvPr/>
        </p:nvSpPr>
        <p:spPr>
          <a:xfrm>
            <a:off x="777240" y="372160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0">
                <a:solidFill>
                  <a:srgbClr val="202124"/>
                </a:solidFill>
              </a:rPr>
              <a:t>Claims review after service</a:t>
            </a:r>
          </a:p>
        </p:txBody>
      </p:sp>
      <p:sp>
        <p:nvSpPr>
          <p:cNvPr id="17" name="Shape 17"/>
          <p:cNvSpPr/>
          <p:nvPr/>
        </p:nvSpPr>
        <p:spPr>
          <a:xfrm>
            <a:off x="5806440" y="3429000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00" b="1">
                <a:solidFill>
                  <a:srgbClr val="292A83"/>
                </a:solidFill>
              </a:rPr>
              <a:t>AiCare difference</a:t>
            </a:r>
          </a:p>
        </p:txBody>
      </p:sp>
      <p:sp>
        <p:nvSpPr>
          <p:cNvPr id="18" name="Shape 18"/>
          <p:cNvSpPr/>
          <p:nvPr/>
        </p:nvSpPr>
        <p:spPr>
          <a:xfrm>
            <a:off x="5806440" y="3721608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1">
                <a:solidFill>
                  <a:srgbClr val="262A5F"/>
                </a:solidFill>
              </a:rPr>
              <a:t>Checks at enrollment, pre-auth, visit, claim, and payment</a:t>
            </a:r>
          </a:p>
        </p:txBody>
      </p:sp>
      <p:cxnSp>
        <p:nvCxnSpPr>
          <p:cNvPr id="19" name="Shape 19"/>
          <p:cNvCxnSpPr/>
          <p:nvPr/>
        </p:nvCxnSpPr>
        <p:spPr>
          <a:xfrm>
            <a:off x="777240" y="4142232"/>
            <a:ext cx="10149840" cy="0"/>
          </a:xfrm>
          <a:prstGeom prst="line">
            <a:avLst/>
          </a:prstGeom>
          <a:ln w="12700">
            <a:solidFill>
              <a:srgbClr val="E6E8EF"/>
            </a:solidFill>
          </a:ln>
        </p:spPr>
      </p:cxnSp>
      <p:sp>
        <p:nvSpPr>
          <p:cNvPr id="20" name="Shape 20"/>
          <p:cNvSpPr/>
          <p:nvPr/>
        </p:nvSpPr>
        <p:spPr>
          <a:xfrm>
            <a:off x="777240" y="4297680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00" b="1">
                <a:solidFill>
                  <a:srgbClr val="667085"/>
                </a:solidFill>
              </a:rPr>
              <a:t>Competitor norm</a:t>
            </a:r>
          </a:p>
        </p:txBody>
      </p:sp>
      <p:sp>
        <p:nvSpPr>
          <p:cNvPr id="21" name="Shape 21"/>
          <p:cNvSpPr/>
          <p:nvPr/>
        </p:nvSpPr>
        <p:spPr>
          <a:xfrm>
            <a:off x="777240" y="459028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0">
                <a:solidFill>
                  <a:srgbClr val="202124"/>
                </a:solidFill>
              </a:rPr>
              <a:t>Self-funded via statements</a:t>
            </a:r>
          </a:p>
        </p:txBody>
      </p:sp>
      <p:sp>
        <p:nvSpPr>
          <p:cNvPr id="22" name="Shape 22"/>
          <p:cNvSpPr/>
          <p:nvPr/>
        </p:nvSpPr>
        <p:spPr>
          <a:xfrm>
            <a:off x="5806440" y="4297680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00" b="1">
                <a:solidFill>
                  <a:srgbClr val="292A83"/>
                </a:solidFill>
              </a:rPr>
              <a:t>AiCare difference</a:t>
            </a:r>
          </a:p>
        </p:txBody>
      </p:sp>
      <p:sp>
        <p:nvSpPr>
          <p:cNvPr id="23" name="Shape 23"/>
          <p:cNvSpPr/>
          <p:nvPr/>
        </p:nvSpPr>
        <p:spPr>
          <a:xfrm>
            <a:off x="5806440" y="4590288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1">
                <a:solidFill>
                  <a:srgbClr val="262A5F"/>
                </a:solidFill>
              </a:rPr>
              <a:t>Live fund ledger, holds, low-balance alerts</a:t>
            </a:r>
          </a:p>
        </p:txBody>
      </p:sp>
      <p:cxnSp>
        <p:nvCxnSpPr>
          <p:cNvPr id="24" name="Shape 24"/>
          <p:cNvCxnSpPr/>
          <p:nvPr/>
        </p:nvCxnSpPr>
        <p:spPr>
          <a:xfrm>
            <a:off x="777240" y="5010912"/>
            <a:ext cx="10149840" cy="0"/>
          </a:xfrm>
          <a:prstGeom prst="line">
            <a:avLst/>
          </a:prstGeom>
          <a:ln w="12700">
            <a:solidFill>
              <a:srgbClr val="E6E8EF"/>
            </a:solidFill>
          </a:ln>
        </p:spPr>
      </p:cxnSp>
      <p:sp>
        <p:nvSpPr>
          <p:cNvPr id="25" name="Shape 25"/>
          <p:cNvSpPr/>
          <p:nvPr/>
        </p:nvSpPr>
        <p:spPr>
          <a:xfrm>
            <a:off x="777240" y="5166360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00" b="1">
                <a:solidFill>
                  <a:srgbClr val="667085"/>
                </a:solidFill>
              </a:rPr>
              <a:t>Competitor norm</a:t>
            </a:r>
          </a:p>
        </p:txBody>
      </p:sp>
      <p:sp>
        <p:nvSpPr>
          <p:cNvPr id="26" name="Shape 26"/>
          <p:cNvSpPr/>
          <p:nvPr/>
        </p:nvSpPr>
        <p:spPr>
          <a:xfrm>
            <a:off x="777240" y="545896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0">
                <a:solidFill>
                  <a:srgbClr val="202124"/>
                </a:solidFill>
              </a:rPr>
              <a:t>Portals as status viewers</a:t>
            </a:r>
          </a:p>
        </p:txBody>
      </p:sp>
      <p:sp>
        <p:nvSpPr>
          <p:cNvPr id="27" name="Shape 27"/>
          <p:cNvSpPr/>
          <p:nvPr/>
        </p:nvSpPr>
        <p:spPr>
          <a:xfrm>
            <a:off x="5806440" y="5166360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00" b="1">
                <a:solidFill>
                  <a:srgbClr val="292A83"/>
                </a:solidFill>
              </a:rPr>
              <a:t>AiCare difference</a:t>
            </a:r>
          </a:p>
        </p:txBody>
      </p:sp>
      <p:sp>
        <p:nvSpPr>
          <p:cNvPr id="28" name="Shape 28"/>
          <p:cNvSpPr/>
          <p:nvPr/>
        </p:nvSpPr>
        <p:spPr>
          <a:xfrm>
            <a:off x="5806440" y="5458968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1">
                <a:solidFill>
                  <a:srgbClr val="262A5F"/>
                </a:solidFill>
              </a:rPr>
              <a:t>Portals that let actors perform their actual work</a:t>
            </a:r>
          </a:p>
        </p:txBody>
      </p:sp>
      <p:cxnSp>
        <p:nvCxnSpPr>
          <p:cNvPr id="29" name="Shape 29"/>
          <p:cNvCxnSpPr/>
          <p:nvPr/>
        </p:nvCxnSpPr>
        <p:spPr>
          <a:xfrm>
            <a:off x="777240" y="5879592"/>
            <a:ext cx="10149840" cy="0"/>
          </a:xfrm>
          <a:prstGeom prst="line">
            <a:avLst/>
          </a:prstGeom>
          <a:ln w="12700">
            <a:solidFill>
              <a:srgbClr val="E6E8EF"/>
            </a:solidFill>
          </a:ln>
        </p:spPr>
      </p:cxnSp>
      <p:sp>
        <p:nvSpPr>
          <p:cNvPr id="30" name="Shape 30"/>
          <p:cNvSpPr/>
          <p:nvPr/>
        </p:nvSpPr>
        <p:spPr>
          <a:xfrm>
            <a:off x="10881360" y="644652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900" b="1">
                <a:solidFill>
                  <a:srgbClr val="667085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8368" y="45720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200" b="1">
                <a:solidFill>
                  <a:srgbClr val="292A83"/>
                </a:solidFill>
              </a:rPr>
              <a:t>Value for the hospital, employers, members, and brokers</a:t>
            </a:r>
          </a:p>
        </p:txBody>
      </p:sp>
      <p:sp>
        <p:nvSpPr>
          <p:cNvPr id="3" name="Shape 3"/>
          <p:cNvSpPr/>
          <p:nvPr/>
        </p:nvSpPr>
        <p:spPr>
          <a:xfrm>
            <a:off x="658368" y="98755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b="0">
                <a:solidFill>
                  <a:srgbClr val="667085"/>
                </a:solidFill>
              </a:rPr>
              <a:t>Avenue can sell a clearer promise to every participant in the program.</a:t>
            </a:r>
          </a:p>
        </p:txBody>
      </p:sp>
      <p:cxnSp>
        <p:nvCxnSpPr>
          <p:cNvPr id="4" name="Shape 4"/>
          <p:cNvCxnSpPr/>
          <p:nvPr/>
        </p:nvCxnSpPr>
        <p:spPr>
          <a:xfrm>
            <a:off x="658368" y="1389888"/>
            <a:ext cx="10817352" cy="0"/>
          </a:xfrm>
          <a:prstGeom prst="line">
            <a:avLst/>
          </a:prstGeom>
          <a:ln w="12700">
            <a:solidFill>
              <a:srgbClr val="E6E8EF"/>
            </a:solidFill>
          </a:ln>
        </p:spPr>
      </p:cxnSp>
      <p:sp>
        <p:nvSpPr>
          <p:cNvPr id="5" name="Shape 5"/>
          <p:cNvSpPr/>
          <p:nvPr/>
        </p:nvSpPr>
        <p:spPr>
          <a:xfrm>
            <a:off x="777240" y="1828800"/>
            <a:ext cx="448056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92A83"/>
            </a:solidFill>
          </a:ln>
        </p:spPr>
      </p:sp>
      <p:sp>
        <p:nvSpPr>
          <p:cNvPr id="6" name="Shape 6"/>
          <p:cNvSpPr/>
          <p:nvPr/>
        </p:nvSpPr>
        <p:spPr>
          <a:xfrm>
            <a:off x="1005840" y="2029968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1">
                <a:solidFill>
                  <a:srgbClr val="292A83"/>
                </a:solidFill>
              </a:rPr>
              <a:t>Hospital</a:t>
            </a:r>
          </a:p>
        </p:txBody>
      </p:sp>
      <p:sp>
        <p:nvSpPr>
          <p:cNvPr id="7" name="Shape 7"/>
          <p:cNvSpPr/>
          <p:nvPr/>
        </p:nvSpPr>
        <p:spPr>
          <a:xfrm>
            <a:off x="1005840" y="239572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b="0">
                <a:solidFill>
                  <a:srgbClr val="202124"/>
                </a:solidFill>
              </a:rPr>
              <a:t>Better loss control, utilization insight, faster settlement, auditable overrides</a:t>
            </a:r>
          </a:p>
        </p:txBody>
      </p:sp>
      <p:sp>
        <p:nvSpPr>
          <p:cNvPr id="8" name="Shape 8"/>
          <p:cNvSpPr/>
          <p:nvPr/>
        </p:nvSpPr>
        <p:spPr>
          <a:xfrm>
            <a:off x="6263640" y="1828800"/>
            <a:ext cx="448056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A7A6"/>
            </a:solidFill>
          </a:ln>
        </p:spPr>
      </p:sp>
      <p:sp>
        <p:nvSpPr>
          <p:cNvPr id="9" name="Shape 9"/>
          <p:cNvSpPr/>
          <p:nvPr/>
        </p:nvSpPr>
        <p:spPr>
          <a:xfrm>
            <a:off x="6492240" y="2029968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1">
                <a:solidFill>
                  <a:srgbClr val="1BA7A6"/>
                </a:solidFill>
              </a:rPr>
              <a:t>Employer</a:t>
            </a:r>
          </a:p>
        </p:txBody>
      </p:sp>
      <p:sp>
        <p:nvSpPr>
          <p:cNvPr id="10" name="Shape 10"/>
          <p:cNvSpPr/>
          <p:nvPr/>
        </p:nvSpPr>
        <p:spPr>
          <a:xfrm>
            <a:off x="6492240" y="239572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b="0">
                <a:solidFill>
                  <a:srgbClr val="202124"/>
                </a:solidFill>
              </a:rPr>
              <a:t>Roster control, invoice clarity, utilization reporting, self-funded transparency</a:t>
            </a:r>
          </a:p>
        </p:txBody>
      </p:sp>
      <p:sp>
        <p:nvSpPr>
          <p:cNvPr id="11" name="Shape 11"/>
          <p:cNvSpPr/>
          <p:nvPr/>
        </p:nvSpPr>
        <p:spPr>
          <a:xfrm>
            <a:off x="777240" y="3520440"/>
            <a:ext cx="448056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A745"/>
            </a:solidFill>
          </a:ln>
        </p:spPr>
      </p:sp>
      <p:sp>
        <p:nvSpPr>
          <p:cNvPr id="12" name="Shape 12"/>
          <p:cNvSpPr/>
          <p:nvPr/>
        </p:nvSpPr>
        <p:spPr>
          <a:xfrm>
            <a:off x="1005840" y="3721608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1">
                <a:solidFill>
                  <a:srgbClr val="28A745"/>
                </a:solidFill>
              </a:rPr>
              <a:t>Member</a:t>
            </a:r>
          </a:p>
        </p:txBody>
      </p:sp>
      <p:sp>
        <p:nvSpPr>
          <p:cNvPr id="13" name="Shape 13"/>
          <p:cNvSpPr/>
          <p:nvPr/>
        </p:nvSpPr>
        <p:spPr>
          <a:xfrm>
            <a:off x="1005840" y="408736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b="0">
                <a:solidFill>
                  <a:srgbClr val="202124"/>
                </a:solidFill>
              </a:rPr>
              <a:t>Visible benefits, digital card, check-in security, support and facilities access</a:t>
            </a:r>
          </a:p>
        </p:txBody>
      </p:sp>
      <p:sp>
        <p:nvSpPr>
          <p:cNvPr id="14" name="Shape 14"/>
          <p:cNvSpPr/>
          <p:nvPr/>
        </p:nvSpPr>
        <p:spPr>
          <a:xfrm>
            <a:off x="6263640" y="3520440"/>
            <a:ext cx="448056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B642"/>
            </a:solidFill>
          </a:ln>
        </p:spPr>
      </p:sp>
      <p:sp>
        <p:nvSpPr>
          <p:cNvPr id="15" name="Shape 15"/>
          <p:cNvSpPr/>
          <p:nvPr/>
        </p:nvSpPr>
        <p:spPr>
          <a:xfrm>
            <a:off x="6492240" y="3721608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1">
                <a:solidFill>
                  <a:srgbClr val="F5B642"/>
                </a:solidFill>
              </a:rPr>
              <a:t>Broker</a:t>
            </a:r>
          </a:p>
        </p:txBody>
      </p:sp>
      <p:sp>
        <p:nvSpPr>
          <p:cNvPr id="16" name="Shape 16"/>
          <p:cNvSpPr/>
          <p:nvPr/>
        </p:nvSpPr>
        <p:spPr>
          <a:xfrm>
            <a:off x="6492240" y="408736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b="0">
                <a:solidFill>
                  <a:srgbClr val="202124"/>
                </a:solidFill>
              </a:rPr>
              <a:t>Quotations, submissions, commissions, renewals, group visibility</a:t>
            </a:r>
          </a:p>
        </p:txBody>
      </p:sp>
      <p:sp>
        <p:nvSpPr>
          <p:cNvPr id="17" name="Shape 17"/>
          <p:cNvSpPr/>
          <p:nvPr/>
        </p:nvSpPr>
        <p:spPr>
          <a:xfrm>
            <a:off x="10881360" y="644652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900" b="1">
                <a:solidFill>
                  <a:srgbClr val="667085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8368" y="45720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200" b="1">
                <a:solidFill>
                  <a:srgbClr val="292A83"/>
                </a:solidFill>
              </a:rPr>
              <a:t>A practical adoption path</a:t>
            </a:r>
          </a:p>
        </p:txBody>
      </p:sp>
      <p:sp>
        <p:nvSpPr>
          <p:cNvPr id="3" name="Shape 3"/>
          <p:cNvSpPr/>
          <p:nvPr/>
        </p:nvSpPr>
        <p:spPr>
          <a:xfrm>
            <a:off x="658368" y="98755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b="0">
                <a:solidFill>
                  <a:srgbClr val="667085"/>
                </a:solidFill>
              </a:rPr>
              <a:t>The system can be introduced as an operating model, not a big-bang replacement.</a:t>
            </a:r>
          </a:p>
        </p:txBody>
      </p:sp>
      <p:cxnSp>
        <p:nvCxnSpPr>
          <p:cNvPr id="4" name="Shape 4"/>
          <p:cNvCxnSpPr/>
          <p:nvPr/>
        </p:nvCxnSpPr>
        <p:spPr>
          <a:xfrm>
            <a:off x="658368" y="1389888"/>
            <a:ext cx="10817352" cy="0"/>
          </a:xfrm>
          <a:prstGeom prst="line">
            <a:avLst/>
          </a:prstGeom>
          <a:ln w="12700">
            <a:solidFill>
              <a:srgbClr val="E6E8EF"/>
            </a:solidFill>
          </a:ln>
        </p:spPr>
      </p:cxnSp>
      <p:sp>
        <p:nvSpPr>
          <p:cNvPr id="5" name="Shape 5"/>
          <p:cNvSpPr/>
          <p:nvPr/>
        </p:nvSpPr>
        <p:spPr>
          <a:xfrm>
            <a:off x="822960" y="18745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300" b="1">
                <a:solidFill>
                  <a:srgbClr val="292A83"/>
                </a:solidFill>
              </a:rPr>
              <a:t>1</a:t>
            </a:r>
          </a:p>
        </p:txBody>
      </p:sp>
      <p:cxnSp>
        <p:nvCxnSpPr>
          <p:cNvPr id="6" name="Shape 6"/>
          <p:cNvCxnSpPr/>
          <p:nvPr/>
        </p:nvCxnSpPr>
        <p:spPr>
          <a:xfrm>
            <a:off x="1051560" y="2395728"/>
            <a:ext cx="0" cy="1810512"/>
          </a:xfrm>
          <a:prstGeom prst="line">
            <a:avLst/>
          </a:prstGeom>
          <a:ln w="25400">
            <a:solidFill>
              <a:srgbClr val="1BA7A6"/>
            </a:solidFill>
          </a:ln>
        </p:spPr>
      </p:cxnSp>
      <p:sp>
        <p:nvSpPr>
          <p:cNvPr id="7" name="Shape 7"/>
          <p:cNvSpPr/>
          <p:nvPr/>
        </p:nvSpPr>
        <p:spPr>
          <a:xfrm>
            <a:off x="822960" y="443484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1">
                <a:solidFill>
                  <a:srgbClr val="262A5F"/>
                </a:solidFill>
              </a:rPr>
              <a:t>Stabilize core</a:t>
            </a:r>
          </a:p>
        </p:txBody>
      </p:sp>
      <p:sp>
        <p:nvSpPr>
          <p:cNvPr id="8" name="Shape 8"/>
          <p:cNvSpPr/>
          <p:nvPr/>
        </p:nvSpPr>
        <p:spPr>
          <a:xfrm>
            <a:off x="822960" y="4864608"/>
            <a:ext cx="20574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b="0">
                <a:solidFill>
                  <a:srgbClr val="202124"/>
                </a:solidFill>
              </a:rPr>
              <a:t>Packages, groups, members, billing, claims, reports</a:t>
            </a:r>
          </a:p>
        </p:txBody>
      </p:sp>
      <p:sp>
        <p:nvSpPr>
          <p:cNvPr id="9" name="Shape 9"/>
          <p:cNvSpPr/>
          <p:nvPr/>
        </p:nvSpPr>
        <p:spPr>
          <a:xfrm>
            <a:off x="3611880" y="18745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300" b="1">
                <a:solidFill>
                  <a:srgbClr val="292A83"/>
                </a:solidFill>
              </a:rPr>
              <a:t>2</a:t>
            </a:r>
          </a:p>
        </p:txBody>
      </p:sp>
      <p:cxnSp>
        <p:nvCxnSpPr>
          <p:cNvPr id="10" name="Shape 10"/>
          <p:cNvCxnSpPr/>
          <p:nvPr/>
        </p:nvCxnSpPr>
        <p:spPr>
          <a:xfrm>
            <a:off x="3840480" y="2395728"/>
            <a:ext cx="0" cy="1810512"/>
          </a:xfrm>
          <a:prstGeom prst="line">
            <a:avLst/>
          </a:prstGeom>
          <a:ln w="25400">
            <a:solidFill>
              <a:srgbClr val="1BA7A6"/>
            </a:solidFill>
          </a:ln>
        </p:spPr>
      </p:cxnSp>
      <p:sp>
        <p:nvSpPr>
          <p:cNvPr id="11" name="Shape 11"/>
          <p:cNvSpPr/>
          <p:nvPr/>
        </p:nvSpPr>
        <p:spPr>
          <a:xfrm>
            <a:off x="3611880" y="443484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1">
                <a:solidFill>
                  <a:srgbClr val="262A5F"/>
                </a:solidFill>
              </a:rPr>
              <a:t>Activate controls</a:t>
            </a:r>
          </a:p>
        </p:txBody>
      </p:sp>
      <p:sp>
        <p:nvSpPr>
          <p:cNvPr id="12" name="Shape 12"/>
          <p:cNvSpPr/>
          <p:nvPr/>
        </p:nvSpPr>
        <p:spPr>
          <a:xfrm>
            <a:off x="3611880" y="4864608"/>
            <a:ext cx="20574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b="0">
                <a:solidFill>
                  <a:srgbClr val="202124"/>
                </a:solidFill>
              </a:rPr>
              <a:t>Secure check-in, tariff variance, fraud desk, audit review</a:t>
            </a:r>
          </a:p>
        </p:txBody>
      </p:sp>
      <p:sp>
        <p:nvSpPr>
          <p:cNvPr id="13" name="Shape 13"/>
          <p:cNvSpPr/>
          <p:nvPr/>
        </p:nvSpPr>
        <p:spPr>
          <a:xfrm>
            <a:off x="6400800" y="18745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300" b="1">
                <a:solidFill>
                  <a:srgbClr val="292A83"/>
                </a:solidFill>
              </a:rPr>
              <a:t>3</a:t>
            </a:r>
          </a:p>
        </p:txBody>
      </p:sp>
      <p:cxnSp>
        <p:nvCxnSpPr>
          <p:cNvPr id="14" name="Shape 14"/>
          <p:cNvCxnSpPr/>
          <p:nvPr/>
        </p:nvCxnSpPr>
        <p:spPr>
          <a:xfrm>
            <a:off x="6629400" y="2395728"/>
            <a:ext cx="0" cy="1810512"/>
          </a:xfrm>
          <a:prstGeom prst="line">
            <a:avLst/>
          </a:prstGeom>
          <a:ln w="25400">
            <a:solidFill>
              <a:srgbClr val="1BA7A6"/>
            </a:solidFill>
          </a:ln>
        </p:spPr>
      </p:cxnSp>
      <p:sp>
        <p:nvSpPr>
          <p:cNvPr id="15" name="Shape 15"/>
          <p:cNvSpPr/>
          <p:nvPr/>
        </p:nvSpPr>
        <p:spPr>
          <a:xfrm>
            <a:off x="6400800" y="443484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1">
                <a:solidFill>
                  <a:srgbClr val="262A5F"/>
                </a:solidFill>
              </a:rPr>
              <a:t>Open portals</a:t>
            </a:r>
          </a:p>
        </p:txBody>
      </p:sp>
      <p:sp>
        <p:nvSpPr>
          <p:cNvPr id="16" name="Shape 16"/>
          <p:cNvSpPr/>
          <p:nvPr/>
        </p:nvSpPr>
        <p:spPr>
          <a:xfrm>
            <a:off x="6400800" y="4864608"/>
            <a:ext cx="20574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b="0">
                <a:solidFill>
                  <a:srgbClr val="202124"/>
                </a:solidFill>
              </a:rPr>
              <a:t>HR, member, broker, and fund self-service workflows</a:t>
            </a:r>
          </a:p>
        </p:txBody>
      </p:sp>
      <p:sp>
        <p:nvSpPr>
          <p:cNvPr id="17" name="Shape 17"/>
          <p:cNvSpPr/>
          <p:nvPr/>
        </p:nvSpPr>
        <p:spPr>
          <a:xfrm>
            <a:off x="9189720" y="18745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300" b="1">
                <a:solidFill>
                  <a:srgbClr val="292A83"/>
                </a:solidFill>
              </a:rPr>
              <a:t>4</a:t>
            </a:r>
          </a:p>
        </p:txBody>
      </p:sp>
      <p:cxnSp>
        <p:nvCxnSpPr>
          <p:cNvPr id="18" name="Shape 18"/>
          <p:cNvCxnSpPr/>
          <p:nvPr/>
        </p:nvCxnSpPr>
        <p:spPr>
          <a:xfrm>
            <a:off x="9418320" y="2395728"/>
            <a:ext cx="0" cy="1810512"/>
          </a:xfrm>
          <a:prstGeom prst="line">
            <a:avLst/>
          </a:prstGeom>
          <a:ln w="25400">
            <a:solidFill>
              <a:srgbClr val="1BA7A6"/>
            </a:solidFill>
          </a:ln>
        </p:spPr>
      </p:cxnSp>
      <p:sp>
        <p:nvSpPr>
          <p:cNvPr id="19" name="Shape 19"/>
          <p:cNvSpPr/>
          <p:nvPr/>
        </p:nvSpPr>
        <p:spPr>
          <a:xfrm>
            <a:off x="9189720" y="443484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1">
                <a:solidFill>
                  <a:srgbClr val="262A5F"/>
                </a:solidFill>
              </a:rPr>
              <a:t>Optimize pool</a:t>
            </a:r>
          </a:p>
        </p:txBody>
      </p:sp>
      <p:sp>
        <p:nvSpPr>
          <p:cNvPr id="20" name="Shape 20"/>
          <p:cNvSpPr/>
          <p:nvPr/>
        </p:nvSpPr>
        <p:spPr>
          <a:xfrm>
            <a:off x="9189720" y="4864608"/>
            <a:ext cx="20574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00" b="0">
                <a:solidFill>
                  <a:srgbClr val="202124"/>
                </a:solidFill>
              </a:rPr>
              <a:t>Utilization, renewals, pricing feedback, service trends</a:t>
            </a:r>
          </a:p>
        </p:txBody>
      </p:sp>
      <p:sp>
        <p:nvSpPr>
          <p:cNvPr id="21" name="Shape 21"/>
          <p:cNvSpPr/>
          <p:nvPr/>
        </p:nvSpPr>
        <p:spPr>
          <a:xfrm>
            <a:off x="10881360" y="644652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900" b="1">
                <a:solidFill>
                  <a:srgbClr val="667085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8368" y="45720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200" b="1">
                <a:solidFill>
                  <a:srgbClr val="292A83"/>
                </a:solidFill>
              </a:rPr>
              <a:t>The story to take forward</a:t>
            </a:r>
          </a:p>
        </p:txBody>
      </p:sp>
      <p:sp>
        <p:nvSpPr>
          <p:cNvPr id="3" name="Shape 3"/>
          <p:cNvSpPr/>
          <p:nvPr/>
        </p:nvSpPr>
        <p:spPr>
          <a:xfrm>
            <a:off x="658368" y="98755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00" b="0">
                <a:solidFill>
                  <a:srgbClr val="667085"/>
                </a:solidFill>
              </a:rPr>
              <a:t>AiCare turns Avenue's membership program into a disciplined care-finance platform.</a:t>
            </a:r>
          </a:p>
        </p:txBody>
      </p:sp>
      <p:cxnSp>
        <p:nvCxnSpPr>
          <p:cNvPr id="4" name="Shape 4"/>
          <p:cNvCxnSpPr/>
          <p:nvPr/>
        </p:nvCxnSpPr>
        <p:spPr>
          <a:xfrm>
            <a:off x="658368" y="1389888"/>
            <a:ext cx="10817352" cy="0"/>
          </a:xfrm>
          <a:prstGeom prst="line">
            <a:avLst/>
          </a:prstGeom>
          <a:ln w="12700">
            <a:solidFill>
              <a:srgbClr val="E6E8EF"/>
            </a:solidFill>
          </a:ln>
        </p:spPr>
      </p:cxnSp>
      <p:sp>
        <p:nvSpPr>
          <p:cNvPr id="5" name="Shape 5"/>
          <p:cNvSpPr/>
          <p:nvPr/>
        </p:nvSpPr>
        <p:spPr>
          <a:xfrm>
            <a:off x="822960" y="1874520"/>
            <a:ext cx="713232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3400" b="1">
                <a:solidFill>
                  <a:srgbClr val="262A5F"/>
                </a:solidFill>
              </a:rPr>
              <a:t>Avenue can offer members a program that feels simple at the front door and behaves rigorously behind the scenes.</a:t>
            </a:r>
          </a:p>
        </p:txBody>
      </p:sp>
      <p:sp>
        <p:nvSpPr>
          <p:cNvPr id="6" name="Shape 6"/>
          <p:cNvSpPr/>
          <p:nvPr/>
        </p:nvSpPr>
        <p:spPr>
          <a:xfrm>
            <a:off x="868680" y="393192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0">
                <a:solidFill>
                  <a:srgbClr val="202124"/>
                </a:solidFill>
              </a:rPr>
              <a:t>That is the competitive position: integrated care access, transparent membership finance, and fraud-aware operations in one system.</a:t>
            </a:r>
          </a:p>
        </p:txBody>
      </p:sp>
      <p:sp>
        <p:nvSpPr>
          <p:cNvPr id="7" name="Shape 7"/>
          <p:cNvSpPr/>
          <p:nvPr/>
        </p:nvSpPr>
        <p:spPr>
          <a:xfrm>
            <a:off x="7955280" y="1874520"/>
            <a:ext cx="2468880" cy="2468880"/>
          </a:xfrm>
          <a:prstGeom prst="roundRect">
            <a:avLst/>
          </a:prstGeom>
          <a:solidFill>
            <a:srgbClr val="292A83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8275320" y="256032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en-US" sz="2200" b="1">
                <a:solidFill>
                  <a:srgbClr val="FFFFFF"/>
                </a:solidFill>
              </a:rPr>
              <a:t>Next:</a:t>
            </a:r>
          </a:p>
          <a:p>
            <a:pPr algn="ctr"/>
            <a:r>
              <a:rPr lang="en-US" sz="2200" b="1">
                <a:solidFill>
                  <a:srgbClr val="FFFFFF"/>
                </a:solidFill>
              </a:rPr>
              <a:t>manual + screenshots</a:t>
            </a:r>
          </a:p>
        </p:txBody>
      </p:sp>
      <p:sp>
        <p:nvSpPr>
          <p:cNvPr id="9" name="Shape 9"/>
          <p:cNvSpPr/>
          <p:nvPr/>
        </p:nvSpPr>
        <p:spPr>
          <a:xfrm>
            <a:off x="10881360" y="644652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en-US" sz="900" b="1">
                <a:solidFill>
                  <a:srgbClr val="667085"/>
                </a:solidFill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Care">
  <a:themeElements>
    <a:clrScheme name="AiCare">
      <a:dk1>
        <a:srgbClr val="202124"/>
      </a:dk1>
      <a:lt1>
        <a:srgbClr val="FFFFFF"/>
      </a:lt1>
      <a:dk2>
        <a:srgbClr val="262A5F"/>
      </a:dk2>
      <a:lt2>
        <a:srgbClr val="F7F8FB"/>
      </a:lt2>
      <a:accent1>
        <a:srgbClr val="292A83"/>
      </a:accent1>
      <a:accent2>
        <a:srgbClr val="1BA7A6"/>
      </a:accent2>
      <a:accent3>
        <a:srgbClr val="28A745"/>
      </a:accent3>
      <a:accent4>
        <a:srgbClr val="F5B642"/>
      </a:accent4>
      <a:accent5>
        <a:srgbClr val="DC3545"/>
      </a:accent5>
      <a:accent6>
        <a:srgbClr val="435BA1"/>
      </a:accent6>
      <a:hlink>
        <a:srgbClr val="292A83"/>
      </a:hlink>
      <a:folHlink>
        <a:srgbClr val="435BA1"/>
      </a:folHlink>
    </a:clrScheme>
    <a:fontScheme name="AiCare">
      <a:majorFont>
        <a:latin typeface="Aptos Display"/>
      </a:majorFont>
      <a:minorFont>
        <a:latin typeface="Aptos"/>
      </a:minorFont>
    </a:fontScheme>
    <a:fmtScheme name="AiCar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OpenXML</Application>
  <PresentationFormat>On-screen Show (16:9)</PresentationFormat>
  <Slides>17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Avenue Hospital Membership Program Strategy</dc:title>
  <dc:creator>Codex</dc:creator>
  <cp:lastModifiedBy>Codex</cp:lastModifiedBy>
  <dcterms:created xsi:type="dcterms:W3CDTF">2026-04-29T00:00:00Z</dcterms:created>
  <dcterms:modified xsi:type="dcterms:W3CDTF">2026-04-29T00:00:00Z</dcterms:modified>
</cp:coreProperties>
</file>